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5"/>
  </p:sldMasterIdLst>
  <p:notesMasterIdLst>
    <p:notesMasterId r:id="rId15"/>
  </p:notesMasterIdLst>
  <p:handoutMasterIdLst>
    <p:handoutMasterId r:id="rId16"/>
  </p:handoutMasterIdLst>
  <p:sldIdLst>
    <p:sldId id="297" r:id="rId6"/>
    <p:sldId id="298" r:id="rId7"/>
    <p:sldId id="269" r:id="rId8"/>
    <p:sldId id="302" r:id="rId9"/>
    <p:sldId id="303" r:id="rId10"/>
    <p:sldId id="300" r:id="rId11"/>
    <p:sldId id="299" r:id="rId12"/>
    <p:sldId id="304" r:id="rId13"/>
    <p:sldId id="301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36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678D"/>
    <a:srgbClr val="D84400"/>
    <a:srgbClr val="446992"/>
    <a:srgbClr val="AEC2D8"/>
    <a:srgbClr val="98432A"/>
    <a:srgbClr val="263E5A"/>
    <a:srgbClr val="D6E0EB"/>
    <a:srgbClr val="728DAB"/>
    <a:srgbClr val="C95B3A"/>
    <a:srgbClr val="2D4C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768B73D-E0C8-460F-8438-34BBAB3E461B}" v="1244" dt="2025-08-15T04:38:31.688"/>
  </p1510:revLst>
</p1510:revInfo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839" autoAdjust="0"/>
  </p:normalViewPr>
  <p:slideViewPr>
    <p:cSldViewPr snapToGrid="0" showGuides="1">
      <p:cViewPr varScale="1">
        <p:scale>
          <a:sx n="70" d="100"/>
          <a:sy n="70" d="100"/>
        </p:scale>
        <p:origin x="536" y="52"/>
      </p:cViewPr>
      <p:guideLst>
        <p:guide orient="horz" pos="1536"/>
        <p:guide pos="31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2491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microsoft.com/office/2018/10/relationships/authors" Target="author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5">
  <dgm:title val=""/>
  <dgm:desc val=""/>
  <dgm:catLst>
    <dgm:cat type="accent2" pri="11500"/>
  </dgm:catLst>
  <dgm:styleLbl name="node0">
    <dgm:fillClrLst meth="cycle">
      <a:schemeClr val="accent2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alpha val="90000"/>
      </a:schemeClr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alpha val="90000"/>
      </a:schemeClr>
      <a:schemeClr val="accent2">
        <a:alpha val="5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/>
    <dgm:txEffectClrLst/>
  </dgm:styleLbl>
  <dgm:styleLbl name="lnNode1">
    <dgm:fillClrLst>
      <a:schemeClr val="accent2">
        <a:shade val="90000"/>
      </a:schemeClr>
      <a:schemeClr val="accent2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alpha val="2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  <a:alpha val="90000"/>
      </a:schemeClr>
      <a:schemeClr val="accent2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alpha val="90000"/>
        <a:tint val="40000"/>
      </a:schemeClr>
      <a:schemeClr val="accent2">
        <a:alpha val="5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9D6A007-6E21-4C07-99B9-BDD9EEEDB17F}" type="doc">
      <dgm:prSet loTypeId="urn:microsoft.com/office/officeart/2005/8/layout/chevron2" loCatId="list" qsTypeId="urn:microsoft.com/office/officeart/2005/8/quickstyle/simple1" qsCatId="simple" csTypeId="urn:microsoft.com/office/officeart/2005/8/colors/accent2_5" csCatId="accent2" phldr="1"/>
      <dgm:spPr/>
      <dgm:t>
        <a:bodyPr/>
        <a:lstStyle/>
        <a:p>
          <a:endParaRPr lang="en-ZA"/>
        </a:p>
      </dgm:t>
    </dgm:pt>
    <dgm:pt modelId="{1CC28405-945B-4E4A-AF1D-0C85B0391B61}">
      <dgm:prSet phldrT="[Text]"/>
      <dgm:spPr/>
      <dgm:t>
        <a:bodyPr/>
        <a:lstStyle/>
        <a:p>
          <a:r>
            <a:rPr lang="en-US" b="1" dirty="0"/>
            <a:t>Data ingestion</a:t>
          </a:r>
          <a:endParaRPr lang="en-ZA" b="1" dirty="0"/>
        </a:p>
      </dgm:t>
    </dgm:pt>
    <dgm:pt modelId="{58E3E1F4-A53D-4F6D-929E-AFCF91DBD0D7}" type="parTrans" cxnId="{30723F79-24E0-42BA-B364-80B410F57289}">
      <dgm:prSet/>
      <dgm:spPr/>
      <dgm:t>
        <a:bodyPr/>
        <a:lstStyle/>
        <a:p>
          <a:endParaRPr lang="en-ZA"/>
        </a:p>
      </dgm:t>
    </dgm:pt>
    <dgm:pt modelId="{7184E8F0-43B5-44C0-AD99-2CF45CA54786}" type="sibTrans" cxnId="{30723F79-24E0-42BA-B364-80B410F57289}">
      <dgm:prSet/>
      <dgm:spPr/>
      <dgm:t>
        <a:bodyPr/>
        <a:lstStyle/>
        <a:p>
          <a:endParaRPr lang="en-ZA"/>
        </a:p>
      </dgm:t>
    </dgm:pt>
    <dgm:pt modelId="{81B5BBB2-EF3C-46B3-90C1-5AD65C576746}">
      <dgm:prSet phldrT="[Text]"/>
      <dgm:spPr/>
      <dgm:t>
        <a:bodyPr/>
        <a:lstStyle/>
        <a:p>
          <a:r>
            <a:rPr lang="en-US" b="1" dirty="0"/>
            <a:t>Combinatorial cross-validation</a:t>
          </a:r>
          <a:endParaRPr lang="en-ZA" b="1" dirty="0"/>
        </a:p>
      </dgm:t>
    </dgm:pt>
    <dgm:pt modelId="{4ADA9309-9D68-4BDE-8849-638BF710B472}" type="parTrans" cxnId="{CE46868A-6FD1-4BAF-A03A-CBCD079B2C6C}">
      <dgm:prSet/>
      <dgm:spPr/>
      <dgm:t>
        <a:bodyPr/>
        <a:lstStyle/>
        <a:p>
          <a:endParaRPr lang="en-ZA"/>
        </a:p>
      </dgm:t>
    </dgm:pt>
    <dgm:pt modelId="{B55CC43B-D31D-44E2-9622-E0B00E13D34F}" type="sibTrans" cxnId="{CE46868A-6FD1-4BAF-A03A-CBCD079B2C6C}">
      <dgm:prSet/>
      <dgm:spPr/>
      <dgm:t>
        <a:bodyPr/>
        <a:lstStyle/>
        <a:p>
          <a:endParaRPr lang="en-ZA"/>
        </a:p>
      </dgm:t>
    </dgm:pt>
    <dgm:pt modelId="{EE7F882A-8D73-45EE-9EAD-AC5A4BD6F6C1}">
      <dgm:prSet phldrT="[Text]"/>
      <dgm:spPr/>
      <dgm:t>
        <a:bodyPr/>
        <a:lstStyle/>
        <a:p>
          <a:r>
            <a:rPr lang="en-ZA" b="1" dirty="0"/>
            <a:t>Walk-forward validations</a:t>
          </a:r>
        </a:p>
      </dgm:t>
    </dgm:pt>
    <dgm:pt modelId="{8D10A9F4-5D16-4772-B2B5-7FB7D4C44AC7}" type="parTrans" cxnId="{FA6706B7-ED20-4CE0-84EB-145CAFAE9AEE}">
      <dgm:prSet/>
      <dgm:spPr/>
      <dgm:t>
        <a:bodyPr/>
        <a:lstStyle/>
        <a:p>
          <a:endParaRPr lang="en-ZA"/>
        </a:p>
      </dgm:t>
    </dgm:pt>
    <dgm:pt modelId="{AB9D57B4-E472-4572-BBE0-014ADC230048}" type="sibTrans" cxnId="{FA6706B7-ED20-4CE0-84EB-145CAFAE9AEE}">
      <dgm:prSet/>
      <dgm:spPr/>
      <dgm:t>
        <a:bodyPr/>
        <a:lstStyle/>
        <a:p>
          <a:endParaRPr lang="en-ZA"/>
        </a:p>
      </dgm:t>
    </dgm:pt>
    <dgm:pt modelId="{49373D9D-44B6-4A20-8923-D35375CBB13B}">
      <dgm:prSet/>
      <dgm:spPr/>
      <dgm:t>
        <a:bodyPr/>
        <a:lstStyle/>
        <a:p>
          <a:r>
            <a:rPr lang="en-US" b="1" dirty="0"/>
            <a:t>Code efficiency</a:t>
          </a:r>
          <a:endParaRPr lang="en-ZA" b="1" dirty="0"/>
        </a:p>
      </dgm:t>
    </dgm:pt>
    <dgm:pt modelId="{D328446A-060D-4209-8098-AE822495679E}" type="parTrans" cxnId="{F7DF2D46-09A2-495A-B0A1-D67DE2BFDAAA}">
      <dgm:prSet/>
      <dgm:spPr/>
      <dgm:t>
        <a:bodyPr/>
        <a:lstStyle/>
        <a:p>
          <a:endParaRPr lang="en-ZA"/>
        </a:p>
      </dgm:t>
    </dgm:pt>
    <dgm:pt modelId="{0EE6BD95-D549-449C-A6B1-77EDBB65F880}" type="sibTrans" cxnId="{F7DF2D46-09A2-495A-B0A1-D67DE2BFDAAA}">
      <dgm:prSet/>
      <dgm:spPr/>
      <dgm:t>
        <a:bodyPr/>
        <a:lstStyle/>
        <a:p>
          <a:endParaRPr lang="en-ZA"/>
        </a:p>
      </dgm:t>
    </dgm:pt>
    <dgm:pt modelId="{C241B654-2B90-4733-8BE2-C1ABB74B26C0}">
      <dgm:prSet/>
      <dgm:spPr/>
      <dgm:t>
        <a:bodyPr/>
        <a:lstStyle/>
        <a:p>
          <a:r>
            <a:rPr lang="en-US" dirty="0"/>
            <a:t>Import selected features.</a:t>
          </a:r>
          <a:endParaRPr lang="en-ZA" dirty="0"/>
        </a:p>
      </dgm:t>
    </dgm:pt>
    <dgm:pt modelId="{EF5733AF-BB4F-429B-94E6-669349E7C8A7}" type="parTrans" cxnId="{D607EF26-74B7-4EC1-8600-F4F2B6288315}">
      <dgm:prSet/>
      <dgm:spPr/>
      <dgm:t>
        <a:bodyPr/>
        <a:lstStyle/>
        <a:p>
          <a:endParaRPr lang="en-ZA"/>
        </a:p>
      </dgm:t>
    </dgm:pt>
    <dgm:pt modelId="{699BD556-C0BA-4222-B783-8E32E0948FB2}" type="sibTrans" cxnId="{D607EF26-74B7-4EC1-8600-F4F2B6288315}">
      <dgm:prSet/>
      <dgm:spPr/>
      <dgm:t>
        <a:bodyPr/>
        <a:lstStyle/>
        <a:p>
          <a:endParaRPr lang="en-ZA"/>
        </a:p>
      </dgm:t>
    </dgm:pt>
    <dgm:pt modelId="{1A547166-BDDA-4878-A363-3EE568CB5C19}">
      <dgm:prSet/>
      <dgm:spPr/>
      <dgm:t>
        <a:bodyPr/>
        <a:lstStyle/>
        <a:p>
          <a:r>
            <a:rPr lang="en-US" dirty="0"/>
            <a:t>Output best parameters.</a:t>
          </a:r>
          <a:endParaRPr lang="en-ZA" dirty="0"/>
        </a:p>
      </dgm:t>
    </dgm:pt>
    <dgm:pt modelId="{8F54649B-2FC1-48AD-AC13-A082F97915BE}" type="parTrans" cxnId="{4EAE97F1-1C34-4C54-9E08-7D4CF6C7C5D1}">
      <dgm:prSet/>
      <dgm:spPr/>
      <dgm:t>
        <a:bodyPr/>
        <a:lstStyle/>
        <a:p>
          <a:endParaRPr lang="en-ZA"/>
        </a:p>
      </dgm:t>
    </dgm:pt>
    <dgm:pt modelId="{F9CE37B3-1335-4504-8C2E-1F1CB4CE7037}" type="sibTrans" cxnId="{4EAE97F1-1C34-4C54-9E08-7D4CF6C7C5D1}">
      <dgm:prSet/>
      <dgm:spPr/>
      <dgm:t>
        <a:bodyPr/>
        <a:lstStyle/>
        <a:p>
          <a:endParaRPr lang="en-ZA"/>
        </a:p>
      </dgm:t>
    </dgm:pt>
    <dgm:pt modelId="{6715C99B-645A-4436-88D7-E71134BBAE52}">
      <dgm:prSet/>
      <dgm:spPr/>
      <dgm:t>
        <a:bodyPr/>
        <a:lstStyle/>
        <a:p>
          <a:r>
            <a:rPr lang="en-US" dirty="0"/>
            <a:t>CV splits = 10 (~24m each split), test splits = 2 (~48m), Purge gap =9m.</a:t>
          </a:r>
          <a:endParaRPr lang="en-ZA" dirty="0"/>
        </a:p>
      </dgm:t>
    </dgm:pt>
    <dgm:pt modelId="{8C16C23E-815E-4C96-A49C-1E2804630506}" type="parTrans" cxnId="{EADA3ABA-07E9-4DAD-BDE0-7D569CC62056}">
      <dgm:prSet/>
      <dgm:spPr/>
      <dgm:t>
        <a:bodyPr/>
        <a:lstStyle/>
        <a:p>
          <a:endParaRPr lang="en-ZA"/>
        </a:p>
      </dgm:t>
    </dgm:pt>
    <dgm:pt modelId="{13563E73-7EE9-42AD-A539-3F40C0156AFD}" type="sibTrans" cxnId="{EADA3ABA-07E9-4DAD-BDE0-7D569CC62056}">
      <dgm:prSet/>
      <dgm:spPr/>
      <dgm:t>
        <a:bodyPr/>
        <a:lstStyle/>
        <a:p>
          <a:endParaRPr lang="en-ZA"/>
        </a:p>
      </dgm:t>
    </dgm:pt>
    <dgm:pt modelId="{179A8588-A7F1-4249-821A-58CFB891A538}">
      <dgm:prSet/>
      <dgm:spPr/>
      <dgm:t>
        <a:bodyPr/>
        <a:lstStyle/>
        <a:p>
          <a:r>
            <a:rPr lang="en-US" dirty="0"/>
            <a:t>Use best parameters to make predictions.</a:t>
          </a:r>
          <a:endParaRPr lang="en-ZA" dirty="0"/>
        </a:p>
      </dgm:t>
    </dgm:pt>
    <dgm:pt modelId="{026A9FE3-4DF3-43A5-9D0A-114282A5F637}" type="parTrans" cxnId="{1FC482F5-F73C-44C2-A0C6-A2EAE7A2669E}">
      <dgm:prSet/>
      <dgm:spPr/>
      <dgm:t>
        <a:bodyPr/>
        <a:lstStyle/>
        <a:p>
          <a:endParaRPr lang="en-ZA"/>
        </a:p>
      </dgm:t>
    </dgm:pt>
    <dgm:pt modelId="{4A578E6F-8355-41DD-94F5-04D697EA7C3B}" type="sibTrans" cxnId="{1FC482F5-F73C-44C2-A0C6-A2EAE7A2669E}">
      <dgm:prSet/>
      <dgm:spPr/>
      <dgm:t>
        <a:bodyPr/>
        <a:lstStyle/>
        <a:p>
          <a:endParaRPr lang="en-ZA"/>
        </a:p>
      </dgm:t>
    </dgm:pt>
    <dgm:pt modelId="{C4D13D01-74F1-44F2-B569-08E5A395BDB6}">
      <dgm:prSet/>
      <dgm:spPr/>
      <dgm:t>
        <a:bodyPr/>
        <a:lstStyle/>
        <a:p>
          <a:r>
            <a:rPr lang="en-US" dirty="0"/>
            <a:t>Parameters tuned: learning rate, </a:t>
          </a:r>
          <a:r>
            <a:rPr lang="en-US" dirty="0" err="1"/>
            <a:t>max_depth</a:t>
          </a:r>
          <a:r>
            <a:rPr lang="en-US" dirty="0"/>
            <a:t>.</a:t>
          </a:r>
          <a:endParaRPr lang="en-ZA" dirty="0"/>
        </a:p>
      </dgm:t>
    </dgm:pt>
    <dgm:pt modelId="{494E63B1-6053-452B-A380-F692AF341771}" type="parTrans" cxnId="{A34FF0E6-5F08-42AF-828E-4B685A177880}">
      <dgm:prSet/>
      <dgm:spPr/>
      <dgm:t>
        <a:bodyPr/>
        <a:lstStyle/>
        <a:p>
          <a:endParaRPr lang="en-ZA"/>
        </a:p>
      </dgm:t>
    </dgm:pt>
    <dgm:pt modelId="{2E61B6E4-8667-434C-B701-54967F4E4D2C}" type="sibTrans" cxnId="{A34FF0E6-5F08-42AF-828E-4B685A177880}">
      <dgm:prSet/>
      <dgm:spPr/>
      <dgm:t>
        <a:bodyPr/>
        <a:lstStyle/>
        <a:p>
          <a:endParaRPr lang="en-ZA"/>
        </a:p>
      </dgm:t>
    </dgm:pt>
    <dgm:pt modelId="{92C89A23-D947-4DE0-9744-42C9A08FD0AC}">
      <dgm:prSet/>
      <dgm:spPr/>
      <dgm:t>
        <a:bodyPr/>
        <a:lstStyle/>
        <a:p>
          <a:r>
            <a:rPr lang="en-US" dirty="0"/>
            <a:t>50 features and 239 months of data</a:t>
          </a:r>
          <a:endParaRPr lang="en-ZA" dirty="0"/>
        </a:p>
      </dgm:t>
    </dgm:pt>
    <dgm:pt modelId="{E8C1FB41-6D7F-43ED-A7A3-E477286DDA2B}" type="parTrans" cxnId="{0AE05681-B657-4245-8CFB-0FEB107982B9}">
      <dgm:prSet/>
      <dgm:spPr/>
      <dgm:t>
        <a:bodyPr/>
        <a:lstStyle/>
        <a:p>
          <a:endParaRPr lang="en-ZA"/>
        </a:p>
      </dgm:t>
    </dgm:pt>
    <dgm:pt modelId="{AB5F70E0-7E19-4F6F-B0FF-5913F5F1E176}" type="sibTrans" cxnId="{0AE05681-B657-4245-8CFB-0FEB107982B9}">
      <dgm:prSet/>
      <dgm:spPr/>
      <dgm:t>
        <a:bodyPr/>
        <a:lstStyle/>
        <a:p>
          <a:endParaRPr lang="en-ZA"/>
        </a:p>
      </dgm:t>
    </dgm:pt>
    <dgm:pt modelId="{A22BDF43-7110-4485-B343-EFDEF3795296}">
      <dgm:prSet/>
      <dgm:spPr/>
      <dgm:t>
        <a:bodyPr/>
        <a:lstStyle/>
        <a:p>
          <a:r>
            <a:rPr lang="en-US" dirty="0"/>
            <a:t>Lag features by a month.</a:t>
          </a:r>
          <a:endParaRPr lang="en-ZA" dirty="0"/>
        </a:p>
      </dgm:t>
    </dgm:pt>
    <dgm:pt modelId="{A3FA64CB-7F9D-41A4-A956-2EB47244E4CF}" type="parTrans" cxnId="{B117341E-E108-4B28-92BF-24D3A7C20798}">
      <dgm:prSet/>
      <dgm:spPr/>
      <dgm:t>
        <a:bodyPr/>
        <a:lstStyle/>
        <a:p>
          <a:endParaRPr lang="en-ZA"/>
        </a:p>
      </dgm:t>
    </dgm:pt>
    <dgm:pt modelId="{3DA0BF22-B0E7-498F-AB02-406A6D172389}" type="sibTrans" cxnId="{B117341E-E108-4B28-92BF-24D3A7C20798}">
      <dgm:prSet/>
      <dgm:spPr/>
      <dgm:t>
        <a:bodyPr/>
        <a:lstStyle/>
        <a:p>
          <a:endParaRPr lang="en-ZA"/>
        </a:p>
      </dgm:t>
    </dgm:pt>
    <dgm:pt modelId="{6CFCAE84-902D-485D-A8E2-7CD4693E3F17}">
      <dgm:prSet/>
      <dgm:spPr/>
      <dgm:t>
        <a:bodyPr/>
        <a:lstStyle/>
        <a:p>
          <a:r>
            <a:rPr lang="en-US" dirty="0"/>
            <a:t>The CCV is very slow limiting the number of parameters one can tune.</a:t>
          </a:r>
          <a:endParaRPr lang="en-ZA" dirty="0"/>
        </a:p>
      </dgm:t>
    </dgm:pt>
    <dgm:pt modelId="{5C78AEFC-26E1-4AD8-BB7E-303F85CBB9AC}" type="parTrans" cxnId="{B454E47F-E363-4A6D-96E6-A03E391AF86B}">
      <dgm:prSet/>
      <dgm:spPr/>
      <dgm:t>
        <a:bodyPr/>
        <a:lstStyle/>
        <a:p>
          <a:endParaRPr lang="en-ZA"/>
        </a:p>
      </dgm:t>
    </dgm:pt>
    <dgm:pt modelId="{F19D4823-CC42-40FB-850F-F7AC600F4394}" type="sibTrans" cxnId="{B454E47F-E363-4A6D-96E6-A03E391AF86B}">
      <dgm:prSet/>
      <dgm:spPr/>
      <dgm:t>
        <a:bodyPr/>
        <a:lstStyle/>
        <a:p>
          <a:endParaRPr lang="en-ZA"/>
        </a:p>
      </dgm:t>
    </dgm:pt>
    <dgm:pt modelId="{4770445E-10E7-4C6B-8470-80698C96AC13}">
      <dgm:prSet/>
      <dgm:spPr/>
      <dgm:t>
        <a:bodyPr/>
        <a:lstStyle/>
        <a:p>
          <a:r>
            <a:rPr lang="en-US" dirty="0"/>
            <a:t>Make 12 forward prediction. </a:t>
          </a:r>
          <a:endParaRPr lang="en-ZA" dirty="0"/>
        </a:p>
      </dgm:t>
    </dgm:pt>
    <dgm:pt modelId="{6E06958B-7801-40FF-9B76-23E2B717B0F9}" type="parTrans" cxnId="{2649E81B-E1F3-4007-BB4D-48A57BE98159}">
      <dgm:prSet/>
      <dgm:spPr/>
      <dgm:t>
        <a:bodyPr/>
        <a:lstStyle/>
        <a:p>
          <a:endParaRPr lang="en-ZA"/>
        </a:p>
      </dgm:t>
    </dgm:pt>
    <dgm:pt modelId="{A7981283-CE0A-4B48-A392-B39CFF651C17}" type="sibTrans" cxnId="{2649E81B-E1F3-4007-BB4D-48A57BE98159}">
      <dgm:prSet/>
      <dgm:spPr/>
      <dgm:t>
        <a:bodyPr/>
        <a:lstStyle/>
        <a:p>
          <a:endParaRPr lang="en-ZA"/>
        </a:p>
      </dgm:t>
    </dgm:pt>
    <dgm:pt modelId="{4D57971D-D058-40E4-89EA-6927B03D2794}" type="pres">
      <dgm:prSet presAssocID="{69D6A007-6E21-4C07-99B9-BDD9EEEDB17F}" presName="linearFlow" presStyleCnt="0">
        <dgm:presLayoutVars>
          <dgm:dir/>
          <dgm:animLvl val="lvl"/>
          <dgm:resizeHandles val="exact"/>
        </dgm:presLayoutVars>
      </dgm:prSet>
      <dgm:spPr/>
    </dgm:pt>
    <dgm:pt modelId="{A8682A71-FD5E-420D-9FF2-092F7F00F4AF}" type="pres">
      <dgm:prSet presAssocID="{1CC28405-945B-4E4A-AF1D-0C85B0391B61}" presName="composite" presStyleCnt="0"/>
      <dgm:spPr/>
    </dgm:pt>
    <dgm:pt modelId="{5DC80B74-527C-4A3B-BB22-2873685F745C}" type="pres">
      <dgm:prSet presAssocID="{1CC28405-945B-4E4A-AF1D-0C85B0391B61}" presName="parentText" presStyleLbl="alignNode1" presStyleIdx="0" presStyleCnt="4">
        <dgm:presLayoutVars>
          <dgm:chMax val="1"/>
          <dgm:bulletEnabled val="1"/>
        </dgm:presLayoutVars>
      </dgm:prSet>
      <dgm:spPr/>
    </dgm:pt>
    <dgm:pt modelId="{D30FE7A7-EE20-468C-9F99-B69B1D24C438}" type="pres">
      <dgm:prSet presAssocID="{1CC28405-945B-4E4A-AF1D-0C85B0391B61}" presName="descendantText" presStyleLbl="alignAcc1" presStyleIdx="0" presStyleCnt="4">
        <dgm:presLayoutVars>
          <dgm:bulletEnabled val="1"/>
        </dgm:presLayoutVars>
      </dgm:prSet>
      <dgm:spPr/>
    </dgm:pt>
    <dgm:pt modelId="{B62A6A7F-3438-4F80-8745-03782F5D71DD}" type="pres">
      <dgm:prSet presAssocID="{7184E8F0-43B5-44C0-AD99-2CF45CA54786}" presName="sp" presStyleCnt="0"/>
      <dgm:spPr/>
    </dgm:pt>
    <dgm:pt modelId="{CE941E7B-004E-4C31-8A49-F2C60C03D4D5}" type="pres">
      <dgm:prSet presAssocID="{81B5BBB2-EF3C-46B3-90C1-5AD65C576746}" presName="composite" presStyleCnt="0"/>
      <dgm:spPr/>
    </dgm:pt>
    <dgm:pt modelId="{44257FC3-AEC7-47DC-AA2B-D403C65F7017}" type="pres">
      <dgm:prSet presAssocID="{81B5BBB2-EF3C-46B3-90C1-5AD65C576746}" presName="parentText" presStyleLbl="alignNode1" presStyleIdx="1" presStyleCnt="4">
        <dgm:presLayoutVars>
          <dgm:chMax val="1"/>
          <dgm:bulletEnabled val="1"/>
        </dgm:presLayoutVars>
      </dgm:prSet>
      <dgm:spPr/>
    </dgm:pt>
    <dgm:pt modelId="{5651F2D9-4014-4DD3-9439-4C978F004EA3}" type="pres">
      <dgm:prSet presAssocID="{81B5BBB2-EF3C-46B3-90C1-5AD65C576746}" presName="descendantText" presStyleLbl="alignAcc1" presStyleIdx="1" presStyleCnt="4">
        <dgm:presLayoutVars>
          <dgm:bulletEnabled val="1"/>
        </dgm:presLayoutVars>
      </dgm:prSet>
      <dgm:spPr/>
    </dgm:pt>
    <dgm:pt modelId="{9BF25135-FB4D-45EA-BBE5-3C45CC454A5C}" type="pres">
      <dgm:prSet presAssocID="{B55CC43B-D31D-44E2-9622-E0B00E13D34F}" presName="sp" presStyleCnt="0"/>
      <dgm:spPr/>
    </dgm:pt>
    <dgm:pt modelId="{0EB47D09-4E9B-44E9-8230-BCBCF5CB0D14}" type="pres">
      <dgm:prSet presAssocID="{EE7F882A-8D73-45EE-9EAD-AC5A4BD6F6C1}" presName="composite" presStyleCnt="0"/>
      <dgm:spPr/>
    </dgm:pt>
    <dgm:pt modelId="{A45B10CF-87CB-49C5-B2D0-12EC0E7A0665}" type="pres">
      <dgm:prSet presAssocID="{EE7F882A-8D73-45EE-9EAD-AC5A4BD6F6C1}" presName="parentText" presStyleLbl="alignNode1" presStyleIdx="2" presStyleCnt="4">
        <dgm:presLayoutVars>
          <dgm:chMax val="1"/>
          <dgm:bulletEnabled val="1"/>
        </dgm:presLayoutVars>
      </dgm:prSet>
      <dgm:spPr/>
    </dgm:pt>
    <dgm:pt modelId="{DA53C6CD-4FE3-4ACF-876B-4C5A91FDF12D}" type="pres">
      <dgm:prSet presAssocID="{EE7F882A-8D73-45EE-9EAD-AC5A4BD6F6C1}" presName="descendantText" presStyleLbl="alignAcc1" presStyleIdx="2" presStyleCnt="4">
        <dgm:presLayoutVars>
          <dgm:bulletEnabled val="1"/>
        </dgm:presLayoutVars>
      </dgm:prSet>
      <dgm:spPr/>
    </dgm:pt>
    <dgm:pt modelId="{660FC5CA-1EF3-4C17-A8C7-791FDFE00F47}" type="pres">
      <dgm:prSet presAssocID="{AB9D57B4-E472-4572-BBE0-014ADC230048}" presName="sp" presStyleCnt="0"/>
      <dgm:spPr/>
    </dgm:pt>
    <dgm:pt modelId="{83E1F2FE-778F-4EDC-AAE9-F56269CE2BE2}" type="pres">
      <dgm:prSet presAssocID="{49373D9D-44B6-4A20-8923-D35375CBB13B}" presName="composite" presStyleCnt="0"/>
      <dgm:spPr/>
    </dgm:pt>
    <dgm:pt modelId="{288B8E2F-CCE7-47F3-9FB2-458FC132F0CA}" type="pres">
      <dgm:prSet presAssocID="{49373D9D-44B6-4A20-8923-D35375CBB13B}" presName="parentText" presStyleLbl="alignNode1" presStyleIdx="3" presStyleCnt="4">
        <dgm:presLayoutVars>
          <dgm:chMax val="1"/>
          <dgm:bulletEnabled val="1"/>
        </dgm:presLayoutVars>
      </dgm:prSet>
      <dgm:spPr/>
    </dgm:pt>
    <dgm:pt modelId="{EADD0EF0-6D42-4755-8CB1-D44CBA0035C6}" type="pres">
      <dgm:prSet presAssocID="{49373D9D-44B6-4A20-8923-D35375CBB13B}" presName="descendantText" presStyleLbl="alignAcc1" presStyleIdx="3" presStyleCnt="4">
        <dgm:presLayoutVars>
          <dgm:bulletEnabled val="1"/>
        </dgm:presLayoutVars>
      </dgm:prSet>
      <dgm:spPr/>
    </dgm:pt>
  </dgm:ptLst>
  <dgm:cxnLst>
    <dgm:cxn modelId="{9B30BF03-65B5-488F-8E24-E0E99D3FF491}" type="presOf" srcId="{EE7F882A-8D73-45EE-9EAD-AC5A4BD6F6C1}" destId="{A45B10CF-87CB-49C5-B2D0-12EC0E7A0665}" srcOrd="0" destOrd="0" presId="urn:microsoft.com/office/officeart/2005/8/layout/chevron2"/>
    <dgm:cxn modelId="{E9278B05-D929-4EBD-9C05-F1DAD180755E}" type="presOf" srcId="{81B5BBB2-EF3C-46B3-90C1-5AD65C576746}" destId="{44257FC3-AEC7-47DC-AA2B-D403C65F7017}" srcOrd="0" destOrd="0" presId="urn:microsoft.com/office/officeart/2005/8/layout/chevron2"/>
    <dgm:cxn modelId="{5FE27307-1753-4063-8F35-A6CF47A1CB40}" type="presOf" srcId="{69D6A007-6E21-4C07-99B9-BDD9EEEDB17F}" destId="{4D57971D-D058-40E4-89EA-6927B03D2794}" srcOrd="0" destOrd="0" presId="urn:microsoft.com/office/officeart/2005/8/layout/chevron2"/>
    <dgm:cxn modelId="{114CD211-2FB3-41D0-A7D2-A346356A338D}" type="presOf" srcId="{6CFCAE84-902D-485D-A8E2-7CD4693E3F17}" destId="{EADD0EF0-6D42-4755-8CB1-D44CBA0035C6}" srcOrd="0" destOrd="0" presId="urn:microsoft.com/office/officeart/2005/8/layout/chevron2"/>
    <dgm:cxn modelId="{2649E81B-E1F3-4007-BB4D-48A57BE98159}" srcId="{EE7F882A-8D73-45EE-9EAD-AC5A4BD6F6C1}" destId="{4770445E-10E7-4C6B-8470-80698C96AC13}" srcOrd="1" destOrd="0" parTransId="{6E06958B-7801-40FF-9B76-23E2B717B0F9}" sibTransId="{A7981283-CE0A-4B48-A392-B39CFF651C17}"/>
    <dgm:cxn modelId="{B117341E-E108-4B28-92BF-24D3A7C20798}" srcId="{1CC28405-945B-4E4A-AF1D-0C85B0391B61}" destId="{A22BDF43-7110-4485-B343-EFDEF3795296}" srcOrd="1" destOrd="0" parTransId="{A3FA64CB-7F9D-41A4-A956-2EB47244E4CF}" sibTransId="{3DA0BF22-B0E7-498F-AB02-406A6D172389}"/>
    <dgm:cxn modelId="{D607EF26-74B7-4EC1-8600-F4F2B6288315}" srcId="{1CC28405-945B-4E4A-AF1D-0C85B0391B61}" destId="{C241B654-2B90-4733-8BE2-C1ABB74B26C0}" srcOrd="0" destOrd="0" parTransId="{EF5733AF-BB4F-429B-94E6-669349E7C8A7}" sibTransId="{699BD556-C0BA-4222-B783-8E32E0948FB2}"/>
    <dgm:cxn modelId="{A3E2242F-6508-4307-99D1-E7B34D4863EB}" type="presOf" srcId="{92C89A23-D947-4DE0-9744-42C9A08FD0AC}" destId="{D30FE7A7-EE20-468C-9F99-B69B1D24C438}" srcOrd="0" destOrd="2" presId="urn:microsoft.com/office/officeart/2005/8/layout/chevron2"/>
    <dgm:cxn modelId="{ED58095B-274D-4CC3-89EA-85E9A79CC6E8}" type="presOf" srcId="{1A547166-BDDA-4878-A363-3EE568CB5C19}" destId="{5651F2D9-4014-4DD3-9439-4C978F004EA3}" srcOrd="0" destOrd="2" presId="urn:microsoft.com/office/officeart/2005/8/layout/chevron2"/>
    <dgm:cxn modelId="{F7DF2D46-09A2-495A-B0A1-D67DE2BFDAAA}" srcId="{69D6A007-6E21-4C07-99B9-BDD9EEEDB17F}" destId="{49373D9D-44B6-4A20-8923-D35375CBB13B}" srcOrd="3" destOrd="0" parTransId="{D328446A-060D-4209-8098-AE822495679E}" sibTransId="{0EE6BD95-D549-449C-A6B1-77EDBB65F880}"/>
    <dgm:cxn modelId="{30723F79-24E0-42BA-B364-80B410F57289}" srcId="{69D6A007-6E21-4C07-99B9-BDD9EEEDB17F}" destId="{1CC28405-945B-4E4A-AF1D-0C85B0391B61}" srcOrd="0" destOrd="0" parTransId="{58E3E1F4-A53D-4F6D-929E-AFCF91DBD0D7}" sibTransId="{7184E8F0-43B5-44C0-AD99-2CF45CA54786}"/>
    <dgm:cxn modelId="{5786497E-8E97-46F9-9C42-F23BEAA0920A}" type="presOf" srcId="{49373D9D-44B6-4A20-8923-D35375CBB13B}" destId="{288B8E2F-CCE7-47F3-9FB2-458FC132F0CA}" srcOrd="0" destOrd="0" presId="urn:microsoft.com/office/officeart/2005/8/layout/chevron2"/>
    <dgm:cxn modelId="{B454E47F-E363-4A6D-96E6-A03E391AF86B}" srcId="{49373D9D-44B6-4A20-8923-D35375CBB13B}" destId="{6CFCAE84-902D-485D-A8E2-7CD4693E3F17}" srcOrd="0" destOrd="0" parTransId="{5C78AEFC-26E1-4AD8-BB7E-303F85CBB9AC}" sibTransId="{F19D4823-CC42-40FB-850F-F7AC600F4394}"/>
    <dgm:cxn modelId="{0AE05681-B657-4245-8CFB-0FEB107982B9}" srcId="{1CC28405-945B-4E4A-AF1D-0C85B0391B61}" destId="{92C89A23-D947-4DE0-9744-42C9A08FD0AC}" srcOrd="2" destOrd="0" parTransId="{E8C1FB41-6D7F-43ED-A7A3-E477286DDA2B}" sibTransId="{AB5F70E0-7E19-4F6F-B0FF-5913F5F1E176}"/>
    <dgm:cxn modelId="{CE46868A-6FD1-4BAF-A03A-CBCD079B2C6C}" srcId="{69D6A007-6E21-4C07-99B9-BDD9EEEDB17F}" destId="{81B5BBB2-EF3C-46B3-90C1-5AD65C576746}" srcOrd="1" destOrd="0" parTransId="{4ADA9309-9D68-4BDE-8849-638BF710B472}" sibTransId="{B55CC43B-D31D-44E2-9622-E0B00E13D34F}"/>
    <dgm:cxn modelId="{E162B395-4215-4575-B0B4-7271C0006B6B}" type="presOf" srcId="{4770445E-10E7-4C6B-8470-80698C96AC13}" destId="{DA53C6CD-4FE3-4ACF-876B-4C5A91FDF12D}" srcOrd="0" destOrd="1" presId="urn:microsoft.com/office/officeart/2005/8/layout/chevron2"/>
    <dgm:cxn modelId="{C266FC95-F545-4574-BCDB-971C604804D2}" type="presOf" srcId="{C241B654-2B90-4733-8BE2-C1ABB74B26C0}" destId="{D30FE7A7-EE20-468C-9F99-B69B1D24C438}" srcOrd="0" destOrd="0" presId="urn:microsoft.com/office/officeart/2005/8/layout/chevron2"/>
    <dgm:cxn modelId="{2E82F4AB-470D-4F03-995D-2A1883A3016B}" type="presOf" srcId="{179A8588-A7F1-4249-821A-58CFB891A538}" destId="{DA53C6CD-4FE3-4ACF-876B-4C5A91FDF12D}" srcOrd="0" destOrd="0" presId="urn:microsoft.com/office/officeart/2005/8/layout/chevron2"/>
    <dgm:cxn modelId="{3A7876AF-4F07-45FA-A510-35BB208AE496}" type="presOf" srcId="{1CC28405-945B-4E4A-AF1D-0C85B0391B61}" destId="{5DC80B74-527C-4A3B-BB22-2873685F745C}" srcOrd="0" destOrd="0" presId="urn:microsoft.com/office/officeart/2005/8/layout/chevron2"/>
    <dgm:cxn modelId="{FA6706B7-ED20-4CE0-84EB-145CAFAE9AEE}" srcId="{69D6A007-6E21-4C07-99B9-BDD9EEEDB17F}" destId="{EE7F882A-8D73-45EE-9EAD-AC5A4BD6F6C1}" srcOrd="2" destOrd="0" parTransId="{8D10A9F4-5D16-4772-B2B5-7FB7D4C44AC7}" sibTransId="{AB9D57B4-E472-4572-BBE0-014ADC230048}"/>
    <dgm:cxn modelId="{6EADACB8-7250-40BC-BBBC-47E1AFCB084D}" type="presOf" srcId="{C4D13D01-74F1-44F2-B569-08E5A395BDB6}" destId="{5651F2D9-4014-4DD3-9439-4C978F004EA3}" srcOrd="0" destOrd="1" presId="urn:microsoft.com/office/officeart/2005/8/layout/chevron2"/>
    <dgm:cxn modelId="{EADA3ABA-07E9-4DAD-BDE0-7D569CC62056}" srcId="{81B5BBB2-EF3C-46B3-90C1-5AD65C576746}" destId="{6715C99B-645A-4436-88D7-E71134BBAE52}" srcOrd="0" destOrd="0" parTransId="{8C16C23E-815E-4C96-A49C-1E2804630506}" sibTransId="{13563E73-7EE9-42AD-A539-3F40C0156AFD}"/>
    <dgm:cxn modelId="{6A127CDA-B131-4BF7-9F89-4B6E094B01DF}" type="presOf" srcId="{6715C99B-645A-4436-88D7-E71134BBAE52}" destId="{5651F2D9-4014-4DD3-9439-4C978F004EA3}" srcOrd="0" destOrd="0" presId="urn:microsoft.com/office/officeart/2005/8/layout/chevron2"/>
    <dgm:cxn modelId="{A34FF0E6-5F08-42AF-828E-4B685A177880}" srcId="{81B5BBB2-EF3C-46B3-90C1-5AD65C576746}" destId="{C4D13D01-74F1-44F2-B569-08E5A395BDB6}" srcOrd="1" destOrd="0" parTransId="{494E63B1-6053-452B-A380-F692AF341771}" sibTransId="{2E61B6E4-8667-434C-B701-54967F4E4D2C}"/>
    <dgm:cxn modelId="{4EAE97F1-1C34-4C54-9E08-7D4CF6C7C5D1}" srcId="{81B5BBB2-EF3C-46B3-90C1-5AD65C576746}" destId="{1A547166-BDDA-4878-A363-3EE568CB5C19}" srcOrd="2" destOrd="0" parTransId="{8F54649B-2FC1-48AD-AC13-A082F97915BE}" sibTransId="{F9CE37B3-1335-4504-8C2E-1F1CB4CE7037}"/>
    <dgm:cxn modelId="{1FC482F5-F73C-44C2-A0C6-A2EAE7A2669E}" srcId="{EE7F882A-8D73-45EE-9EAD-AC5A4BD6F6C1}" destId="{179A8588-A7F1-4249-821A-58CFB891A538}" srcOrd="0" destOrd="0" parTransId="{026A9FE3-4DF3-43A5-9D0A-114282A5F637}" sibTransId="{4A578E6F-8355-41DD-94F5-04D697EA7C3B}"/>
    <dgm:cxn modelId="{3719A7FC-3A49-4418-95A6-2747C3CAFA53}" type="presOf" srcId="{A22BDF43-7110-4485-B343-EFDEF3795296}" destId="{D30FE7A7-EE20-468C-9F99-B69B1D24C438}" srcOrd="0" destOrd="1" presId="urn:microsoft.com/office/officeart/2005/8/layout/chevron2"/>
    <dgm:cxn modelId="{36E310BC-46D6-45FE-BCB4-73B6871F646D}" type="presParOf" srcId="{4D57971D-D058-40E4-89EA-6927B03D2794}" destId="{A8682A71-FD5E-420D-9FF2-092F7F00F4AF}" srcOrd="0" destOrd="0" presId="urn:microsoft.com/office/officeart/2005/8/layout/chevron2"/>
    <dgm:cxn modelId="{9350A0FE-1703-4519-9477-F299CC482755}" type="presParOf" srcId="{A8682A71-FD5E-420D-9FF2-092F7F00F4AF}" destId="{5DC80B74-527C-4A3B-BB22-2873685F745C}" srcOrd="0" destOrd="0" presId="urn:microsoft.com/office/officeart/2005/8/layout/chevron2"/>
    <dgm:cxn modelId="{8DD9B8D3-ECF7-41C3-A828-847DC10DB4F5}" type="presParOf" srcId="{A8682A71-FD5E-420D-9FF2-092F7F00F4AF}" destId="{D30FE7A7-EE20-468C-9F99-B69B1D24C438}" srcOrd="1" destOrd="0" presId="urn:microsoft.com/office/officeart/2005/8/layout/chevron2"/>
    <dgm:cxn modelId="{3B680F36-AE33-40C9-A520-B4B6C034A5A9}" type="presParOf" srcId="{4D57971D-D058-40E4-89EA-6927B03D2794}" destId="{B62A6A7F-3438-4F80-8745-03782F5D71DD}" srcOrd="1" destOrd="0" presId="urn:microsoft.com/office/officeart/2005/8/layout/chevron2"/>
    <dgm:cxn modelId="{F3D7F38B-B927-4EA9-A713-E7B80B3E61F1}" type="presParOf" srcId="{4D57971D-D058-40E4-89EA-6927B03D2794}" destId="{CE941E7B-004E-4C31-8A49-F2C60C03D4D5}" srcOrd="2" destOrd="0" presId="urn:microsoft.com/office/officeart/2005/8/layout/chevron2"/>
    <dgm:cxn modelId="{CC36073F-9D62-4E4E-8FF7-6C42070E9EC8}" type="presParOf" srcId="{CE941E7B-004E-4C31-8A49-F2C60C03D4D5}" destId="{44257FC3-AEC7-47DC-AA2B-D403C65F7017}" srcOrd="0" destOrd="0" presId="urn:microsoft.com/office/officeart/2005/8/layout/chevron2"/>
    <dgm:cxn modelId="{B415B255-3619-4E32-AF37-1792A82B530B}" type="presParOf" srcId="{CE941E7B-004E-4C31-8A49-F2C60C03D4D5}" destId="{5651F2D9-4014-4DD3-9439-4C978F004EA3}" srcOrd="1" destOrd="0" presId="urn:microsoft.com/office/officeart/2005/8/layout/chevron2"/>
    <dgm:cxn modelId="{55594766-755B-47C1-934C-6721942E4FBF}" type="presParOf" srcId="{4D57971D-D058-40E4-89EA-6927B03D2794}" destId="{9BF25135-FB4D-45EA-BBE5-3C45CC454A5C}" srcOrd="3" destOrd="0" presId="urn:microsoft.com/office/officeart/2005/8/layout/chevron2"/>
    <dgm:cxn modelId="{580FDB21-91DF-4E18-B1A5-C877FA5D0939}" type="presParOf" srcId="{4D57971D-D058-40E4-89EA-6927B03D2794}" destId="{0EB47D09-4E9B-44E9-8230-BCBCF5CB0D14}" srcOrd="4" destOrd="0" presId="urn:microsoft.com/office/officeart/2005/8/layout/chevron2"/>
    <dgm:cxn modelId="{1A5B3E4C-851A-4D17-8846-F299AAB60815}" type="presParOf" srcId="{0EB47D09-4E9B-44E9-8230-BCBCF5CB0D14}" destId="{A45B10CF-87CB-49C5-B2D0-12EC0E7A0665}" srcOrd="0" destOrd="0" presId="urn:microsoft.com/office/officeart/2005/8/layout/chevron2"/>
    <dgm:cxn modelId="{71DB5859-DA66-4016-BB5C-55442B678EC0}" type="presParOf" srcId="{0EB47D09-4E9B-44E9-8230-BCBCF5CB0D14}" destId="{DA53C6CD-4FE3-4ACF-876B-4C5A91FDF12D}" srcOrd="1" destOrd="0" presId="urn:microsoft.com/office/officeart/2005/8/layout/chevron2"/>
    <dgm:cxn modelId="{4DDA8A22-8C94-4055-B82A-3C0CA41AA9A7}" type="presParOf" srcId="{4D57971D-D058-40E4-89EA-6927B03D2794}" destId="{660FC5CA-1EF3-4C17-A8C7-791FDFE00F47}" srcOrd="5" destOrd="0" presId="urn:microsoft.com/office/officeart/2005/8/layout/chevron2"/>
    <dgm:cxn modelId="{0350612F-696B-457D-B898-447D810B223F}" type="presParOf" srcId="{4D57971D-D058-40E4-89EA-6927B03D2794}" destId="{83E1F2FE-778F-4EDC-AAE9-F56269CE2BE2}" srcOrd="6" destOrd="0" presId="urn:microsoft.com/office/officeart/2005/8/layout/chevron2"/>
    <dgm:cxn modelId="{3A0062E3-F80A-4F06-8E54-E27BD5C1C82C}" type="presParOf" srcId="{83E1F2FE-778F-4EDC-AAE9-F56269CE2BE2}" destId="{288B8E2F-CCE7-47F3-9FB2-458FC132F0CA}" srcOrd="0" destOrd="0" presId="urn:microsoft.com/office/officeart/2005/8/layout/chevron2"/>
    <dgm:cxn modelId="{140CD3BD-A93A-43B7-AAF6-F276D0F1B17A}" type="presParOf" srcId="{83E1F2FE-778F-4EDC-AAE9-F56269CE2BE2}" destId="{EADD0EF0-6D42-4755-8CB1-D44CBA0035C6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C80B74-527C-4A3B-BB22-2873685F745C}">
      <dsp:nvSpPr>
        <dsp:cNvPr id="0" name=""/>
        <dsp:cNvSpPr/>
      </dsp:nvSpPr>
      <dsp:spPr>
        <a:xfrm rot="5400000">
          <a:off x="-227659" y="228989"/>
          <a:ext cx="1517733" cy="1062413"/>
        </a:xfrm>
        <a:prstGeom prst="chevron">
          <a:avLst/>
        </a:prstGeom>
        <a:solidFill>
          <a:schemeClr val="accen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Data ingestion</a:t>
          </a:r>
          <a:endParaRPr lang="en-ZA" sz="1200" b="1" kern="1200" dirty="0"/>
        </a:p>
      </dsp:txBody>
      <dsp:txXfrm rot="-5400000">
        <a:off x="2" y="532536"/>
        <a:ext cx="1062413" cy="455320"/>
      </dsp:txXfrm>
    </dsp:sp>
    <dsp:sp modelId="{D30FE7A7-EE20-468C-9F99-B69B1D24C438}">
      <dsp:nvSpPr>
        <dsp:cNvPr id="0" name=""/>
        <dsp:cNvSpPr/>
      </dsp:nvSpPr>
      <dsp:spPr>
        <a:xfrm rot="5400000">
          <a:off x="3198002" y="-2134259"/>
          <a:ext cx="986526" cy="525770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9525" rIns="9525" bIns="952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Import selected features.</a:t>
          </a:r>
          <a:endParaRPr lang="en-ZA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Lag features by a month.</a:t>
          </a:r>
          <a:endParaRPr lang="en-ZA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50 features and 239 months of data</a:t>
          </a:r>
          <a:endParaRPr lang="en-ZA" sz="1500" kern="1200" dirty="0"/>
        </a:p>
      </dsp:txBody>
      <dsp:txXfrm rot="-5400000">
        <a:off x="1062413" y="49488"/>
        <a:ext cx="5209547" cy="890210"/>
      </dsp:txXfrm>
    </dsp:sp>
    <dsp:sp modelId="{44257FC3-AEC7-47DC-AA2B-D403C65F7017}">
      <dsp:nvSpPr>
        <dsp:cNvPr id="0" name=""/>
        <dsp:cNvSpPr/>
      </dsp:nvSpPr>
      <dsp:spPr>
        <a:xfrm rot="5400000">
          <a:off x="-227659" y="1602602"/>
          <a:ext cx="1517733" cy="1062413"/>
        </a:xfrm>
        <a:prstGeom prst="chevron">
          <a:avLst/>
        </a:prstGeom>
        <a:solidFill>
          <a:schemeClr val="accent2">
            <a:alpha val="90000"/>
            <a:hueOff val="0"/>
            <a:satOff val="0"/>
            <a:lumOff val="0"/>
            <a:alphaOff val="-13333"/>
          </a:schemeClr>
        </a:solidFill>
        <a:ln w="12700" cap="flat" cmpd="sng" algn="ctr">
          <a:solidFill>
            <a:schemeClr val="accent2">
              <a:alpha val="90000"/>
              <a:hueOff val="0"/>
              <a:satOff val="0"/>
              <a:lumOff val="0"/>
              <a:alphaOff val="-13333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Combinatorial cross-validation</a:t>
          </a:r>
          <a:endParaRPr lang="en-ZA" sz="1200" b="1" kern="1200" dirty="0"/>
        </a:p>
      </dsp:txBody>
      <dsp:txXfrm rot="-5400000">
        <a:off x="2" y="1906149"/>
        <a:ext cx="1062413" cy="455320"/>
      </dsp:txXfrm>
    </dsp:sp>
    <dsp:sp modelId="{5651F2D9-4014-4DD3-9439-4C978F004EA3}">
      <dsp:nvSpPr>
        <dsp:cNvPr id="0" name=""/>
        <dsp:cNvSpPr/>
      </dsp:nvSpPr>
      <dsp:spPr>
        <a:xfrm rot="5400000">
          <a:off x="3198002" y="-760647"/>
          <a:ext cx="986526" cy="525770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hueOff val="0"/>
              <a:satOff val="0"/>
              <a:lumOff val="0"/>
              <a:alphaOff val="-13333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9525" rIns="9525" bIns="952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CV splits = 10 (~24m each split), test splits = 2 (~48m), Purge gap =9m.</a:t>
          </a:r>
          <a:endParaRPr lang="en-ZA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Parameters tuned: learning rate, </a:t>
          </a:r>
          <a:r>
            <a:rPr lang="en-US" sz="1500" kern="1200" dirty="0" err="1"/>
            <a:t>max_depth</a:t>
          </a:r>
          <a:r>
            <a:rPr lang="en-US" sz="1500" kern="1200" dirty="0"/>
            <a:t>.</a:t>
          </a:r>
          <a:endParaRPr lang="en-ZA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Output best parameters.</a:t>
          </a:r>
          <a:endParaRPr lang="en-ZA" sz="1500" kern="1200" dirty="0"/>
        </a:p>
      </dsp:txBody>
      <dsp:txXfrm rot="-5400000">
        <a:off x="1062413" y="1423100"/>
        <a:ext cx="5209547" cy="890210"/>
      </dsp:txXfrm>
    </dsp:sp>
    <dsp:sp modelId="{A45B10CF-87CB-49C5-B2D0-12EC0E7A0665}">
      <dsp:nvSpPr>
        <dsp:cNvPr id="0" name=""/>
        <dsp:cNvSpPr/>
      </dsp:nvSpPr>
      <dsp:spPr>
        <a:xfrm rot="5400000">
          <a:off x="-227659" y="2976214"/>
          <a:ext cx="1517733" cy="1062413"/>
        </a:xfrm>
        <a:prstGeom prst="chevron">
          <a:avLst/>
        </a:prstGeom>
        <a:solidFill>
          <a:schemeClr val="accent2">
            <a:alpha val="90000"/>
            <a:hueOff val="0"/>
            <a:satOff val="0"/>
            <a:lumOff val="0"/>
            <a:alphaOff val="-26667"/>
          </a:schemeClr>
        </a:solidFill>
        <a:ln w="12700" cap="flat" cmpd="sng" algn="ctr">
          <a:solidFill>
            <a:schemeClr val="accent2">
              <a:alpha val="90000"/>
              <a:hueOff val="0"/>
              <a:satOff val="0"/>
              <a:lumOff val="0"/>
              <a:alphaOff val="-26667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200" b="1" kern="1200" dirty="0"/>
            <a:t>Walk-forward validations</a:t>
          </a:r>
        </a:p>
      </dsp:txBody>
      <dsp:txXfrm rot="-5400000">
        <a:off x="2" y="3279761"/>
        <a:ext cx="1062413" cy="455320"/>
      </dsp:txXfrm>
    </dsp:sp>
    <dsp:sp modelId="{DA53C6CD-4FE3-4ACF-876B-4C5A91FDF12D}">
      <dsp:nvSpPr>
        <dsp:cNvPr id="0" name=""/>
        <dsp:cNvSpPr/>
      </dsp:nvSpPr>
      <dsp:spPr>
        <a:xfrm rot="5400000">
          <a:off x="3198002" y="612964"/>
          <a:ext cx="986526" cy="525770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hueOff val="0"/>
              <a:satOff val="0"/>
              <a:lumOff val="0"/>
              <a:alphaOff val="-26667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9525" rIns="9525" bIns="952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Use best parameters to make predictions.</a:t>
          </a:r>
          <a:endParaRPr lang="en-ZA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Make 12 forward prediction. </a:t>
          </a:r>
          <a:endParaRPr lang="en-ZA" sz="1500" kern="1200" dirty="0"/>
        </a:p>
      </dsp:txBody>
      <dsp:txXfrm rot="-5400000">
        <a:off x="1062413" y="2796711"/>
        <a:ext cx="5209547" cy="890210"/>
      </dsp:txXfrm>
    </dsp:sp>
    <dsp:sp modelId="{288B8E2F-CCE7-47F3-9FB2-458FC132F0CA}">
      <dsp:nvSpPr>
        <dsp:cNvPr id="0" name=""/>
        <dsp:cNvSpPr/>
      </dsp:nvSpPr>
      <dsp:spPr>
        <a:xfrm rot="5400000">
          <a:off x="-227659" y="4349826"/>
          <a:ext cx="1517733" cy="1062413"/>
        </a:xfrm>
        <a:prstGeom prst="chevron">
          <a:avLst/>
        </a:prstGeom>
        <a:solidFill>
          <a:schemeClr val="accent2">
            <a:alpha val="90000"/>
            <a:hueOff val="0"/>
            <a:satOff val="0"/>
            <a:lumOff val="0"/>
            <a:alphaOff val="-40000"/>
          </a:schemeClr>
        </a:solidFill>
        <a:ln w="12700" cap="flat" cmpd="sng" algn="ctr">
          <a:solidFill>
            <a:schemeClr val="accent2">
              <a:alpha val="90000"/>
              <a:hueOff val="0"/>
              <a:satOff val="0"/>
              <a:lumOff val="0"/>
              <a:alphaOff val="-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Code efficiency</a:t>
          </a:r>
          <a:endParaRPr lang="en-ZA" sz="1200" b="1" kern="1200" dirty="0"/>
        </a:p>
      </dsp:txBody>
      <dsp:txXfrm rot="-5400000">
        <a:off x="2" y="4653373"/>
        <a:ext cx="1062413" cy="455320"/>
      </dsp:txXfrm>
    </dsp:sp>
    <dsp:sp modelId="{EADD0EF0-6D42-4755-8CB1-D44CBA0035C6}">
      <dsp:nvSpPr>
        <dsp:cNvPr id="0" name=""/>
        <dsp:cNvSpPr/>
      </dsp:nvSpPr>
      <dsp:spPr>
        <a:xfrm rot="5400000">
          <a:off x="3198002" y="1986577"/>
          <a:ext cx="986526" cy="525770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hueOff val="0"/>
              <a:satOff val="0"/>
              <a:lumOff val="0"/>
              <a:alphaOff val="-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9525" rIns="9525" bIns="952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The CCV is very slow limiting the number of parameters one can tune.</a:t>
          </a:r>
          <a:endParaRPr lang="en-ZA" sz="1500" kern="1200" dirty="0"/>
        </a:p>
      </dsp:txBody>
      <dsp:txXfrm rot="-5400000">
        <a:off x="1062413" y="4170324"/>
        <a:ext cx="5209547" cy="8902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27E3961-5613-64C6-63C3-6085D0CDAE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6D1F08-FF42-95F6-3130-AE63E56048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D26A2A-0A96-0647-84E5-C82F2EFD9474}" type="datetimeFigureOut">
              <a:rPr lang="en-US" smtClean="0"/>
              <a:t>8/14/2025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D5B35B-A046-EC3C-A80E-3D9D12C149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02DDE3-703C-8B4C-9506-EC0A39AACD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8DC1D1-B6C2-C644-8BF1-C34DBFFE1C7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479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0D2594CA-29C5-062F-2EA7-C593B096C62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9" name="Slide Image Placeholder 8">
            <a:extLst>
              <a:ext uri="{FF2B5EF4-FFF2-40B4-BE49-F238E27FC236}">
                <a16:creationId xmlns:a16="http://schemas.microsoft.com/office/drawing/2014/main" id="{E04BB896-BA64-B358-A066-15B96D23BC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5EFA2818-7747-F326-294F-EEAC9BEF6EB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B76E0F0-B7F9-756A-3EA4-2114B75370E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0CF20C-6BCC-41A4-8C16-5A346425718D}" type="datetimeFigureOut">
              <a:rPr lang="en-US" smtClean="0"/>
              <a:t>8/14/2025</a:t>
            </a:fld>
            <a:endParaRPr lang="en-US" dirty="0"/>
          </a:p>
        </p:txBody>
      </p:sp>
      <p:sp>
        <p:nvSpPr>
          <p:cNvPr id="12" name="Notes Placeholder 11">
            <a:extLst>
              <a:ext uri="{FF2B5EF4-FFF2-40B4-BE49-F238E27FC236}">
                <a16:creationId xmlns:a16="http://schemas.microsoft.com/office/drawing/2014/main" id="{5161C21F-108C-0F07-CDDD-AFB8DDBF69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507CBA7-2A1E-725E-35DA-D1CFF08EC6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60679C-80C7-4E7D-9614-ABA41C5B28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665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0679C-80C7-4E7D-9614-ABA41C5B2858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88403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5417A-19BF-1D4E-6A02-89E3429AF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07D8F7-130B-3338-A882-99842D8F79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0DDCDD-4CC8-5879-E527-12DA867AEA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DFB023-104A-BDB7-F47A-F94874CA25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0679C-80C7-4E7D-9614-ABA41C5B2858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78919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7CB02-C5E7-F5BC-600C-4839A73A4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7D662C-2F7B-997D-D23F-7DC0F541CE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5C98A1-0F0E-F101-29C3-D898A4E16C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9044E0-36BF-2F7E-8812-8B1EC86A80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0679C-80C7-4E7D-9614-ABA41C5B2858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84480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Shape 33">
            <a:extLst>
              <a:ext uri="{FF2B5EF4-FFF2-40B4-BE49-F238E27FC236}">
                <a16:creationId xmlns:a16="http://schemas.microsoft.com/office/drawing/2014/main" id="{4D81E37E-7366-D88D-83B8-BBA577CA46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897686" y="1064464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pic>
        <p:nvPicPr>
          <p:cNvPr id="12" name="Shape 31">
            <a:extLst>
              <a:ext uri="{FF2B5EF4-FFF2-40B4-BE49-F238E27FC236}">
                <a16:creationId xmlns:a16="http://schemas.microsoft.com/office/drawing/2014/main" id="{A2E096B7-3B4F-355B-58E5-41784AC8BE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5" b="2555"/>
          <a:stretch>
            <a:fillRect/>
          </a:stretch>
        </p:blipFill>
        <p:spPr>
          <a:xfrm>
            <a:off x="6284315" y="3984454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4292" y="731520"/>
            <a:ext cx="5029200" cy="3291840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cxnSp>
        <p:nvCxnSpPr>
          <p:cNvPr id="24" name="Straight Connector 2">
            <a:extLst>
              <a:ext uri="{FF2B5EF4-FFF2-40B4-BE49-F238E27FC236}">
                <a16:creationId xmlns:a16="http://schemas.microsoft.com/office/drawing/2014/main" id="{F1FCCFDB-D985-4322-AC87-F69214893708}"/>
              </a:ext>
            </a:extLst>
          </p:cNvPr>
          <p:cNvCxnSpPr/>
          <p:nvPr userDrawn="1"/>
        </p:nvCxnSpPr>
        <p:spPr>
          <a:xfrm>
            <a:off x="1168533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60894" y="4172084"/>
            <a:ext cx="4912598" cy="914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47" name="Content placeholder 47">
            <a:extLst>
              <a:ext uri="{FF2B5EF4-FFF2-40B4-BE49-F238E27FC236}">
                <a16:creationId xmlns:a16="http://schemas.microsoft.com/office/drawing/2014/main" id="{0FFAAB58-ABE4-41AC-B94E-432936CE0301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742557" y="821836"/>
            <a:ext cx="4405503" cy="5066346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9ECA281C-F2CB-AE9D-DCD6-F94D3FEE2E67}"/>
              </a:ext>
            </a:extLst>
          </p:cNvPr>
          <p:cNvSpPr/>
          <p:nvPr userDrawn="1"/>
        </p:nvSpPr>
        <p:spPr>
          <a:xfrm>
            <a:off x="7441324" y="5568778"/>
            <a:ext cx="829927" cy="949454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6649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5518B595-5A04-0768-52B1-73F11E475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429000"/>
            <a:ext cx="4206240" cy="2377440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73CCCCFD-E0FE-BDB7-CF9D-FCA345E6BA55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5394325" y="3429000"/>
            <a:ext cx="3475038" cy="2378075"/>
          </a:xfrm>
        </p:spPr>
        <p:txBody>
          <a:bodyPr anchor="ctr"/>
          <a:lstStyle>
            <a:lvl1pPr marL="347472"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: Shape 4">
            <a:extLst>
              <a:ext uri="{FF2B5EF4-FFF2-40B4-BE49-F238E27FC236}">
                <a16:creationId xmlns:a16="http://schemas.microsoft.com/office/drawing/2014/main" id="{AE722AFD-22D7-4BD8-B055-3867C3800E16}"/>
              </a:ext>
            </a:extLst>
          </p:cNvPr>
          <p:cNvSpPr/>
          <p:nvPr userDrawn="1"/>
        </p:nvSpPr>
        <p:spPr>
          <a:xfrm>
            <a:off x="6282845" y="525294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D0355E4-3980-42A9-9376-74163520D39D}"/>
              </a:ext>
            </a:extLst>
          </p:cNvPr>
          <p:cNvSpPr/>
          <p:nvPr userDrawn="1"/>
        </p:nvSpPr>
        <p:spPr>
          <a:xfrm>
            <a:off x="8375472" y="496110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D430ED-A815-4274-966C-8192C4230569}"/>
              </a:ext>
            </a:extLst>
          </p:cNvPr>
          <p:cNvSpPr/>
          <p:nvPr userDrawn="1"/>
        </p:nvSpPr>
        <p:spPr>
          <a:xfrm>
            <a:off x="9403474" y="231031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0B88ADED-0863-78D3-7710-E131932E965F}"/>
              </a:ext>
            </a:extLst>
          </p:cNvPr>
          <p:cNvSpPr/>
          <p:nvPr userDrawn="1"/>
        </p:nvSpPr>
        <p:spPr>
          <a:xfrm>
            <a:off x="10460480" y="505838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8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8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32435EB1-8BEE-9EEE-D9E4-E53D56B7E09C}"/>
              </a:ext>
            </a:extLst>
          </p:cNvPr>
          <p:cNvSpPr/>
          <p:nvPr userDrawn="1"/>
        </p:nvSpPr>
        <p:spPr>
          <a:xfrm>
            <a:off x="11498097" y="2436654"/>
            <a:ext cx="698022" cy="1868948"/>
          </a:xfrm>
          <a:custGeom>
            <a:avLst/>
            <a:gdLst>
              <a:gd name="connsiteX0" fmla="*/ 698022 w 698022"/>
              <a:gd name="connsiteY0" fmla="*/ 0 h 1868948"/>
              <a:gd name="connsiteX1" fmla="*/ 698022 w 698022"/>
              <a:gd name="connsiteY1" fmla="*/ 1868948 h 1868948"/>
              <a:gd name="connsiteX2" fmla="*/ 0 w 698022"/>
              <a:gd name="connsiteY2" fmla="*/ 1477709 h 1868948"/>
              <a:gd name="connsiteX3" fmla="*/ 0 w 698022"/>
              <a:gd name="connsiteY3" fmla="*/ 397939 h 1868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8022" h="1868948">
                <a:moveTo>
                  <a:pt x="698022" y="0"/>
                </a:moveTo>
                <a:lnTo>
                  <a:pt x="698022" y="1868948"/>
                </a:lnTo>
                <a:lnTo>
                  <a:pt x="0" y="1477709"/>
                </a:lnTo>
                <a:lnTo>
                  <a:pt x="0" y="397939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2692688E-3654-181E-6244-F2CED7612746}"/>
              </a:ext>
            </a:extLst>
          </p:cNvPr>
          <p:cNvSpPr/>
          <p:nvPr userDrawn="1"/>
        </p:nvSpPr>
        <p:spPr>
          <a:xfrm>
            <a:off x="10460480" y="4114794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9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9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B1A7E0-D0BF-7FCA-D296-94BFC0D611C5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AC10D1-DF42-8734-0793-84312B963E6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24C8F37E-3F74-F3FA-C9D8-7083DF2BBECC}"/>
              </a:ext>
            </a:extLst>
          </p:cNvPr>
          <p:cNvSpPr/>
          <p:nvPr userDrawn="1"/>
        </p:nvSpPr>
        <p:spPr>
          <a:xfrm>
            <a:off x="7325349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FB905CE6-1C2F-E053-4D14-6B86F4EFDC10}"/>
              </a:ext>
            </a:extLst>
          </p:cNvPr>
          <p:cNvSpPr/>
          <p:nvPr userDrawn="1"/>
        </p:nvSpPr>
        <p:spPr>
          <a:xfrm>
            <a:off x="9416816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: Shape 12">
            <a:extLst>
              <a:ext uri="{FF2B5EF4-FFF2-40B4-BE49-F238E27FC236}">
                <a16:creationId xmlns:a16="http://schemas.microsoft.com/office/drawing/2014/main" id="{0B2D3BF4-495E-23C2-9911-15BC9E0D8EA7}"/>
              </a:ext>
            </a:extLst>
          </p:cNvPr>
          <p:cNvSpPr/>
          <p:nvPr userDrawn="1"/>
        </p:nvSpPr>
        <p:spPr>
          <a:xfrm>
            <a:off x="1571157" y="505838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62629C19-89EB-BC19-9230-7F7675E16EFF}"/>
              </a:ext>
            </a:extLst>
          </p:cNvPr>
          <p:cNvSpPr/>
          <p:nvPr userDrawn="1"/>
        </p:nvSpPr>
        <p:spPr>
          <a:xfrm>
            <a:off x="521034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accent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34811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8">
          <p15:clr>
            <a:srgbClr val="FBAE40"/>
          </p15:clr>
        </p15:guide>
        <p15:guide id="2" pos="50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8464" y="731520"/>
            <a:ext cx="5029200" cy="3291840"/>
          </a:xfrm>
        </p:spPr>
        <p:txBody>
          <a:bodyPr anchor="b">
            <a:norm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117336" y="4172084"/>
            <a:ext cx="4910328" cy="100584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2" name="Freeform: Shape 5">
            <a:extLst>
              <a:ext uri="{FF2B5EF4-FFF2-40B4-BE49-F238E27FC236}">
                <a16:creationId xmlns:a16="http://schemas.microsoft.com/office/drawing/2014/main" id="{B17C1EC9-3787-8D41-B5F1-BF16FD5C7ACB}"/>
              </a:ext>
            </a:extLst>
          </p:cNvPr>
          <p:cNvSpPr/>
          <p:nvPr userDrawn="1"/>
        </p:nvSpPr>
        <p:spPr>
          <a:xfrm>
            <a:off x="3843559" y="722518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4" name="Freeform: Shape 6">
            <a:extLst>
              <a:ext uri="{FF2B5EF4-FFF2-40B4-BE49-F238E27FC236}">
                <a16:creationId xmlns:a16="http://schemas.microsoft.com/office/drawing/2014/main" id="{E945D8B2-8BED-B43F-8D56-AB19D0D29970}"/>
              </a:ext>
            </a:extLst>
          </p:cNvPr>
          <p:cNvSpPr/>
          <p:nvPr userDrawn="1"/>
        </p:nvSpPr>
        <p:spPr>
          <a:xfrm>
            <a:off x="1223929" y="1436914"/>
            <a:ext cx="2857005" cy="326977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600" noProof="0" dirty="0"/>
          </a:p>
        </p:txBody>
      </p:sp>
      <p:sp>
        <p:nvSpPr>
          <p:cNvPr id="5" name="Freeform: Shape 7">
            <a:extLst>
              <a:ext uri="{FF2B5EF4-FFF2-40B4-BE49-F238E27FC236}">
                <a16:creationId xmlns:a16="http://schemas.microsoft.com/office/drawing/2014/main" id="{3853EA5E-735A-20F3-684A-C0AD030EC2D4}"/>
              </a:ext>
            </a:extLst>
          </p:cNvPr>
          <p:cNvSpPr/>
          <p:nvPr userDrawn="1"/>
        </p:nvSpPr>
        <p:spPr>
          <a:xfrm>
            <a:off x="758702" y="3457554"/>
            <a:ext cx="1208037" cy="138175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6" name="Freeform: Shape 11">
            <a:extLst>
              <a:ext uri="{FF2B5EF4-FFF2-40B4-BE49-F238E27FC236}">
                <a16:creationId xmlns:a16="http://schemas.microsoft.com/office/drawing/2014/main" id="{75DB4848-0824-8316-ED27-44DF37AD6F3D}"/>
              </a:ext>
            </a:extLst>
          </p:cNvPr>
          <p:cNvSpPr/>
          <p:nvPr userDrawn="1"/>
        </p:nvSpPr>
        <p:spPr>
          <a:xfrm>
            <a:off x="2917915" y="4662164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cxnSp>
        <p:nvCxnSpPr>
          <p:cNvPr id="7" name="Straight Connector 2">
            <a:extLst>
              <a:ext uri="{FF2B5EF4-FFF2-40B4-BE49-F238E27FC236}">
                <a16:creationId xmlns:a16="http://schemas.microsoft.com/office/drawing/2014/main" id="{8784B377-2FE4-4091-C29F-46938ECFA73E}"/>
              </a:ext>
            </a:extLst>
          </p:cNvPr>
          <p:cNvCxnSpPr/>
          <p:nvPr userDrawn="1"/>
        </p:nvCxnSpPr>
        <p:spPr>
          <a:xfrm>
            <a:off x="5998709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2612047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E820F9CA-E84D-E159-524A-398712EC6AFE}"/>
              </a:ext>
            </a:extLst>
          </p:cNvPr>
          <p:cNvGrpSpPr/>
          <p:nvPr userDrawn="1"/>
        </p:nvGrpSpPr>
        <p:grpSpPr>
          <a:xfrm>
            <a:off x="879765" y="-10376"/>
            <a:ext cx="10794247" cy="1864808"/>
            <a:chOff x="879765" y="-10376"/>
            <a:chExt cx="10794247" cy="1864808"/>
          </a:xfrm>
        </p:grpSpPr>
        <p:sp>
          <p:nvSpPr>
            <p:cNvPr id="12" name="Freeform: Shape 12">
              <a:extLst>
                <a:ext uri="{FF2B5EF4-FFF2-40B4-BE49-F238E27FC236}">
                  <a16:creationId xmlns:a16="http://schemas.microsoft.com/office/drawing/2014/main" id="{7674207A-3643-0D40-E3B5-F11FCACBAA74}"/>
                </a:ext>
              </a:extLst>
            </p:cNvPr>
            <p:cNvSpPr/>
            <p:nvPr/>
          </p:nvSpPr>
          <p:spPr>
            <a:xfrm>
              <a:off x="8893126" y="351937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no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  <p:sp>
          <p:nvSpPr>
            <p:cNvPr id="7" name="Freeform: Shape 12">
              <a:extLst>
                <a:ext uri="{FF2B5EF4-FFF2-40B4-BE49-F238E27FC236}">
                  <a16:creationId xmlns:a16="http://schemas.microsoft.com/office/drawing/2014/main" id="{9619B847-88FE-63C2-96AC-161C08F5934F}"/>
                </a:ext>
              </a:extLst>
            </p:cNvPr>
            <p:cNvSpPr/>
            <p:nvPr/>
          </p:nvSpPr>
          <p:spPr>
            <a:xfrm>
              <a:off x="5985740" y="345168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228172F9-6711-D31B-2F7B-A4ECDEAB360C}"/>
                </a:ext>
              </a:extLst>
            </p:cNvPr>
            <p:cNvSpPr/>
            <p:nvPr/>
          </p:nvSpPr>
          <p:spPr>
            <a:xfrm>
              <a:off x="5255120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1732E38F-F657-48F0-5783-63C7EDB52F87}"/>
                </a:ext>
              </a:extLst>
            </p:cNvPr>
            <p:cNvSpPr/>
            <p:nvPr/>
          </p:nvSpPr>
          <p:spPr>
            <a:xfrm>
              <a:off x="6710252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0" name="Freeform: Shape 12">
              <a:extLst>
                <a:ext uri="{FF2B5EF4-FFF2-40B4-BE49-F238E27FC236}">
                  <a16:creationId xmlns:a16="http://schemas.microsoft.com/office/drawing/2014/main" id="{601F8F38-CEFA-8374-19C9-69BA4F7D10DF}"/>
                </a:ext>
              </a:extLst>
            </p:cNvPr>
            <p:cNvSpPr/>
            <p:nvPr/>
          </p:nvSpPr>
          <p:spPr>
            <a:xfrm>
              <a:off x="1610385" y="351937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noFill/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0659428E-002A-3B5E-D9E8-A2B206826D40}"/>
                </a:ext>
              </a:extLst>
            </p:cNvPr>
            <p:cNvSpPr/>
            <p:nvPr/>
          </p:nvSpPr>
          <p:spPr>
            <a:xfrm>
              <a:off x="879765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F3F6BB30-EA63-53B6-1493-0B0220BC1FF8}"/>
                </a:ext>
              </a:extLst>
            </p:cNvPr>
            <p:cNvSpPr/>
            <p:nvPr/>
          </p:nvSpPr>
          <p:spPr>
            <a:xfrm>
              <a:off x="2336512" y="-10376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3B6E5B6F-28D6-E7F3-B009-0B5623E38F22}"/>
                </a:ext>
              </a:extLst>
            </p:cNvPr>
            <p:cNvSpPr/>
            <p:nvPr/>
          </p:nvSpPr>
          <p:spPr>
            <a:xfrm>
              <a:off x="8160084" y="-10376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4817D92F-B8AA-2300-DC90-9AA1D5E54408}"/>
                </a:ext>
              </a:extLst>
            </p:cNvPr>
            <p:cNvSpPr/>
            <p:nvPr/>
          </p:nvSpPr>
          <p:spPr>
            <a:xfrm>
              <a:off x="9615216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2">
              <a:extLst>
                <a:ext uri="{FF2B5EF4-FFF2-40B4-BE49-F238E27FC236}">
                  <a16:creationId xmlns:a16="http://schemas.microsoft.com/office/drawing/2014/main" id="{F40AC1C2-6632-AEFE-E7DF-2E1BB06D857A}"/>
                </a:ext>
              </a:extLst>
            </p:cNvPr>
            <p:cNvSpPr/>
            <p:nvPr/>
          </p:nvSpPr>
          <p:spPr>
            <a:xfrm>
              <a:off x="10342958" y="320527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487168"/>
            <a:ext cx="4572000" cy="338328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7920" y="2487168"/>
            <a:ext cx="5029200" cy="338328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3787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imag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3200400"/>
            <a:ext cx="5029200" cy="2743200"/>
          </a:xfrm>
        </p:spPr>
        <p:txBody>
          <a:bodyPr anchor="t">
            <a:normAutofit/>
          </a:bodyPr>
          <a:lstStyle>
            <a:lvl1pPr>
              <a:defRPr sz="48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pic>
        <p:nvPicPr>
          <p:cNvPr id="10" name="Picture Placeholder 31">
            <a:extLst>
              <a:ext uri="{FF2B5EF4-FFF2-40B4-BE49-F238E27FC236}">
                <a16:creationId xmlns:a16="http://schemas.microsoft.com/office/drawing/2014/main" id="{373D33A6-83B0-5538-2873-8856E4E60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5" b="2555"/>
          <a:stretch>
            <a:fillRect/>
          </a:stretch>
        </p:blipFill>
        <p:spPr>
          <a:xfrm>
            <a:off x="6504265" y="3029080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accent5">
              <a:alpha val="30000"/>
            </a:schemeClr>
          </a:solidFill>
        </p:spPr>
      </p:pic>
      <p:sp>
        <p:nvSpPr>
          <p:cNvPr id="7" name="Content placeholder 47">
            <a:extLst>
              <a:ext uri="{FF2B5EF4-FFF2-40B4-BE49-F238E27FC236}">
                <a16:creationId xmlns:a16="http://schemas.microsoft.com/office/drawing/2014/main" id="{3944D979-8121-82AA-A130-38072F1EA83F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7493157" y="529148"/>
            <a:ext cx="4248873" cy="473113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61872" y="2240280"/>
            <a:ext cx="5029200" cy="76028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5" name="Freeform: Shape 25">
            <a:extLst>
              <a:ext uri="{FF2B5EF4-FFF2-40B4-BE49-F238E27FC236}">
                <a16:creationId xmlns:a16="http://schemas.microsoft.com/office/drawing/2014/main" id="{8A1DBD66-3066-DF70-EF94-95DF0D7A6503}"/>
              </a:ext>
            </a:extLst>
          </p:cNvPr>
          <p:cNvSpPr/>
          <p:nvPr userDrawn="1"/>
        </p:nvSpPr>
        <p:spPr>
          <a:xfrm flipH="1">
            <a:off x="7400972" y="4594440"/>
            <a:ext cx="1347680" cy="158117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Freeform: Shape 11">
            <a:extLst>
              <a:ext uri="{FF2B5EF4-FFF2-40B4-BE49-F238E27FC236}">
                <a16:creationId xmlns:a16="http://schemas.microsoft.com/office/drawing/2014/main" id="{D2CC929C-40BF-4EF5-7910-7F657CAF8CA9}"/>
              </a:ext>
            </a:extLst>
          </p:cNvPr>
          <p:cNvSpPr/>
          <p:nvPr userDrawn="1"/>
        </p:nvSpPr>
        <p:spPr>
          <a:xfrm>
            <a:off x="6521016" y="4772906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cxnSp>
        <p:nvCxnSpPr>
          <p:cNvPr id="9" name="Straight Connector 2">
            <a:extLst>
              <a:ext uri="{FF2B5EF4-FFF2-40B4-BE49-F238E27FC236}">
                <a16:creationId xmlns:a16="http://schemas.microsoft.com/office/drawing/2014/main" id="{66E94398-47F0-267C-6791-5C30B1CEF496}"/>
              </a:ext>
            </a:extLst>
          </p:cNvPr>
          <p:cNvCxnSpPr/>
          <p:nvPr userDrawn="1"/>
        </p:nvCxnSpPr>
        <p:spPr>
          <a:xfrm>
            <a:off x="1142663" y="2282891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7779262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4">
            <a:extLst>
              <a:ext uri="{FF2B5EF4-FFF2-40B4-BE49-F238E27FC236}">
                <a16:creationId xmlns:a16="http://schemas.microsoft.com/office/drawing/2014/main" id="{05751864-B11A-0286-13EA-2AC2A2C8D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4663440" cy="173736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7A93C-2947-B6E4-C693-7C485DDC0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2160" y="731520"/>
            <a:ext cx="5486400" cy="17373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8A3F288-990F-014E-F099-1E3091477CA7}"/>
              </a:ext>
            </a:extLst>
          </p:cNvPr>
          <p:cNvSpPr>
            <a:spLocks noGrp="1"/>
          </p:cNvSpPr>
          <p:nvPr>
            <p:ph idx="30"/>
          </p:nvPr>
        </p:nvSpPr>
        <p:spPr>
          <a:xfrm>
            <a:off x="914400" y="2743200"/>
            <a:ext cx="8348472" cy="337413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3F619E6B-153E-B522-47EB-4104C405736C}"/>
              </a:ext>
            </a:extLst>
          </p:cNvPr>
          <p:cNvSpPr/>
          <p:nvPr userDrawn="1"/>
        </p:nvSpPr>
        <p:spPr>
          <a:xfrm>
            <a:off x="10551278" y="4665388"/>
            <a:ext cx="603952" cy="68174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87A7B3D-E004-6D6A-5979-8F1BADBC9237}"/>
              </a:ext>
            </a:extLst>
          </p:cNvPr>
          <p:cNvSpPr/>
          <p:nvPr userDrawn="1"/>
        </p:nvSpPr>
        <p:spPr>
          <a:xfrm>
            <a:off x="10524774" y="5146146"/>
            <a:ext cx="1667226" cy="1711855"/>
          </a:xfrm>
          <a:custGeom>
            <a:avLst/>
            <a:gdLst>
              <a:gd name="connsiteX0" fmla="*/ 998834 w 1667226"/>
              <a:gd name="connsiteY0" fmla="*/ 0 h 1711855"/>
              <a:gd name="connsiteX1" fmla="*/ 1667226 w 1667226"/>
              <a:gd name="connsiteY1" fmla="*/ 373790 h 1711855"/>
              <a:gd name="connsiteX2" fmla="*/ 1667226 w 1667226"/>
              <a:gd name="connsiteY2" fmla="*/ 1711855 h 1711855"/>
              <a:gd name="connsiteX3" fmla="*/ 48502 w 1667226"/>
              <a:gd name="connsiteY3" fmla="*/ 1711855 h 1711855"/>
              <a:gd name="connsiteX4" fmla="*/ 0 w 1667226"/>
              <a:gd name="connsiteY4" fmla="*/ 1684915 h 1711855"/>
              <a:gd name="connsiteX5" fmla="*/ 0 w 1667226"/>
              <a:gd name="connsiteY5" fmla="*/ 564300 h 17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67226" h="1711855">
                <a:moveTo>
                  <a:pt x="998834" y="0"/>
                </a:moveTo>
                <a:lnTo>
                  <a:pt x="1667226" y="373790"/>
                </a:lnTo>
                <a:lnTo>
                  <a:pt x="1667226" y="1711855"/>
                </a:lnTo>
                <a:lnTo>
                  <a:pt x="48502" y="1711855"/>
                </a:lnTo>
                <a:lnTo>
                  <a:pt x="0" y="1684915"/>
                </a:lnTo>
                <a:lnTo>
                  <a:pt x="0" y="56430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Freeform: Shape 11">
            <a:extLst>
              <a:ext uri="{FF2B5EF4-FFF2-40B4-BE49-F238E27FC236}">
                <a16:creationId xmlns:a16="http://schemas.microsoft.com/office/drawing/2014/main" id="{A4CA3A93-BDBF-112D-54A0-05BF6B06BCC1}"/>
              </a:ext>
            </a:extLst>
          </p:cNvPr>
          <p:cNvSpPr/>
          <p:nvPr userDrawn="1"/>
        </p:nvSpPr>
        <p:spPr>
          <a:xfrm>
            <a:off x="10177285" y="5347130"/>
            <a:ext cx="748554" cy="85636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F7A154B-D8F5-C1FB-307D-496380875BD1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>
            <a:noAutofit/>
          </a:bodyPr>
          <a:lstStyle/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28715E-D2CE-A33E-1A28-4E627F239BB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121256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0C1D3CF-F6AF-93EB-C40E-C278E5844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3931920" cy="210312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317990C-ED42-30BE-0501-F9C5B4A48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108960"/>
            <a:ext cx="3931920" cy="26517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AC62875-1B1B-E814-6549-162A8DBF8929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5745002" y="0"/>
            <a:ext cx="6446999" cy="6858000"/>
          </a:xfrm>
          <a:custGeom>
            <a:avLst/>
            <a:gdLst>
              <a:gd name="connsiteX0" fmla="*/ 2513726 w 6446999"/>
              <a:gd name="connsiteY0" fmla="*/ 0 h 6858000"/>
              <a:gd name="connsiteX1" fmla="*/ 4301949 w 6446999"/>
              <a:gd name="connsiteY1" fmla="*/ 0 h 6858000"/>
              <a:gd name="connsiteX2" fmla="*/ 6446999 w 6446999"/>
              <a:gd name="connsiteY2" fmla="*/ 1338386 h 6858000"/>
              <a:gd name="connsiteX3" fmla="*/ 6446999 w 6446999"/>
              <a:gd name="connsiteY3" fmla="*/ 5624376 h 6858000"/>
              <a:gd name="connsiteX4" fmla="*/ 4342124 w 6446999"/>
              <a:gd name="connsiteY4" fmla="*/ 6858000 h 6858000"/>
              <a:gd name="connsiteX5" fmla="*/ 2553921 w 6446999"/>
              <a:gd name="connsiteY5" fmla="*/ 6858000 h 6858000"/>
              <a:gd name="connsiteX6" fmla="*/ 661 w 6446999"/>
              <a:gd name="connsiteY6" fmla="*/ 5339864 h 6858000"/>
              <a:gd name="connsiteX7" fmla="*/ 299 w 6446999"/>
              <a:gd name="connsiteY7" fmla="*/ 139604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446999" h="6858000">
                <a:moveTo>
                  <a:pt x="2513726" y="0"/>
                </a:moveTo>
                <a:lnTo>
                  <a:pt x="4301949" y="0"/>
                </a:lnTo>
                <a:lnTo>
                  <a:pt x="6446999" y="1338386"/>
                </a:lnTo>
                <a:lnTo>
                  <a:pt x="6446999" y="5624376"/>
                </a:lnTo>
                <a:lnTo>
                  <a:pt x="4342124" y="6858000"/>
                </a:lnTo>
                <a:lnTo>
                  <a:pt x="2553921" y="6858000"/>
                </a:lnTo>
                <a:lnTo>
                  <a:pt x="661" y="5339864"/>
                </a:lnTo>
                <a:cubicBezTo>
                  <a:pt x="-1473" y="4048155"/>
                  <a:pt x="2433" y="2687753"/>
                  <a:pt x="299" y="1396044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6C45B-70BB-86F1-1866-F93BEC26ACF8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>
            <a:noAutofit/>
          </a:bodyPr>
          <a:lstStyle/>
          <a:p>
            <a:endParaRPr lang="en-US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0044D-485D-043B-9D5B-C01AA8E06447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D91FB993-29E1-3DBD-8335-7970016F8D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203802" y="480395"/>
            <a:ext cx="1896941" cy="217161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rgbClr val="C95B3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dirty="0">
              <a:ln>
                <a:noFill/>
              </a:ln>
              <a:solidFill>
                <a:srgbClr val="F7D952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1259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>
            <a:extLst>
              <a:ext uri="{FF2B5EF4-FFF2-40B4-BE49-F238E27FC236}">
                <a16:creationId xmlns:a16="http://schemas.microsoft.com/office/drawing/2014/main" id="{12BFFCE7-C68B-4904-8795-9589C3F38FD4}"/>
              </a:ext>
            </a:extLst>
          </p:cNvPr>
          <p:cNvSpPr/>
          <p:nvPr userDrawn="1"/>
        </p:nvSpPr>
        <p:spPr>
          <a:xfrm>
            <a:off x="636161" y="5854024"/>
            <a:ext cx="2330137" cy="708120"/>
          </a:xfrm>
          <a:prstGeom prst="rect">
            <a:avLst/>
          </a:prstGeom>
          <a:solidFill>
            <a:srgbClr val="0F26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Freeform: Shape 19">
            <a:extLst>
              <a:ext uri="{FF2B5EF4-FFF2-40B4-BE49-F238E27FC236}">
                <a16:creationId xmlns:a16="http://schemas.microsoft.com/office/drawing/2014/main" id="{9D307BA6-8A60-85D7-CC8B-894256DC4B90}"/>
              </a:ext>
            </a:extLst>
          </p:cNvPr>
          <p:cNvSpPr/>
          <p:nvPr userDrawn="1"/>
        </p:nvSpPr>
        <p:spPr>
          <a:xfrm>
            <a:off x="8517470" y="2248218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7" name="Freeform: Shape 19">
            <a:extLst>
              <a:ext uri="{FF2B5EF4-FFF2-40B4-BE49-F238E27FC236}">
                <a16:creationId xmlns:a16="http://schemas.microsoft.com/office/drawing/2014/main" id="{F38B75F8-75D4-4B41-B7C7-433032DD0A6F}"/>
              </a:ext>
            </a:extLst>
          </p:cNvPr>
          <p:cNvSpPr/>
          <p:nvPr userDrawn="1"/>
        </p:nvSpPr>
        <p:spPr>
          <a:xfrm>
            <a:off x="9578882" y="460803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24">
            <a:extLst>
              <a:ext uri="{FF2B5EF4-FFF2-40B4-BE49-F238E27FC236}">
                <a16:creationId xmlns:a16="http://schemas.microsoft.com/office/drawing/2014/main" id="{671D1224-EDDC-4900-92DC-13608D44C524}"/>
              </a:ext>
            </a:extLst>
          </p:cNvPr>
          <p:cNvSpPr/>
          <p:nvPr userDrawn="1"/>
        </p:nvSpPr>
        <p:spPr>
          <a:xfrm>
            <a:off x="9522496" y="4057904"/>
            <a:ext cx="1886359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635A9E44-4E60-1AD1-0B85-72422683B48A}"/>
              </a:ext>
            </a:extLst>
          </p:cNvPr>
          <p:cNvSpPr/>
          <p:nvPr userDrawn="1"/>
        </p:nvSpPr>
        <p:spPr>
          <a:xfrm>
            <a:off x="11034052" y="3709992"/>
            <a:ext cx="1173188" cy="1502830"/>
          </a:xfrm>
          <a:custGeom>
            <a:avLst/>
            <a:gdLst>
              <a:gd name="connsiteX0" fmla="*/ 638572 w 1157948"/>
              <a:gd name="connsiteY0" fmla="*/ 0 h 1502830"/>
              <a:gd name="connsiteX1" fmla="*/ 0 w 1157948"/>
              <a:gd name="connsiteY1" fmla="*/ 378385 h 1502830"/>
              <a:gd name="connsiteX2" fmla="*/ 0 w 1157948"/>
              <a:gd name="connsiteY2" fmla="*/ 1129800 h 1502830"/>
              <a:gd name="connsiteX3" fmla="*/ 640317 w 1157948"/>
              <a:gd name="connsiteY3" fmla="*/ 1502830 h 1502830"/>
              <a:gd name="connsiteX4" fmla="*/ 1157948 w 1157948"/>
              <a:gd name="connsiteY4" fmla="*/ 1200968 h 1502830"/>
              <a:gd name="connsiteX5" fmla="*/ 1157948 w 1157948"/>
              <a:gd name="connsiteY5" fmla="*/ 304639 h 150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7948" h="1502830">
                <a:moveTo>
                  <a:pt x="638572" y="0"/>
                </a:moveTo>
                <a:lnTo>
                  <a:pt x="0" y="378385"/>
                </a:lnTo>
                <a:lnTo>
                  <a:pt x="0" y="1129800"/>
                </a:lnTo>
                <a:lnTo>
                  <a:pt x="640317" y="1502830"/>
                </a:lnTo>
                <a:lnTo>
                  <a:pt x="1157948" y="1200968"/>
                </a:lnTo>
                <a:lnTo>
                  <a:pt x="1157948" y="304639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041C638-CBB8-1159-9AF8-B5D14CC7B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60704"/>
            <a:ext cx="7132320" cy="1773936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34C76-4814-6AFA-CEFD-F82B9ED9BB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108960"/>
            <a:ext cx="3291840" cy="2651760"/>
          </a:xfrm>
        </p:spPr>
        <p:txBody>
          <a:bodyPr/>
          <a:lstStyle>
            <a:lvl1pPr marL="0" indent="0">
              <a:buNone/>
              <a:defRPr sz="1800"/>
            </a:lvl1pPr>
            <a:lvl2pPr marL="347472">
              <a:defRPr sz="1800"/>
            </a:lvl2pPr>
            <a:lvl3pPr marL="731520">
              <a:defRPr sz="1800"/>
            </a:lvl3pPr>
            <a:lvl4pPr marL="1097280"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42F254A-B4C7-D072-FEB9-22F9A2B0CA64}"/>
              </a:ext>
            </a:extLst>
          </p:cNvPr>
          <p:cNvSpPr>
            <a:spLocks noGrp="1"/>
          </p:cNvSpPr>
          <p:nvPr>
            <p:ph idx="56"/>
          </p:nvPr>
        </p:nvSpPr>
        <p:spPr>
          <a:xfrm>
            <a:off x="4754880" y="3108960"/>
            <a:ext cx="3291840" cy="2651760"/>
          </a:xfrm>
        </p:spPr>
        <p:txBody>
          <a:bodyPr/>
          <a:lstStyle>
            <a:lvl1pPr marL="0" indent="0">
              <a:buNone/>
              <a:defRPr sz="1800"/>
            </a:lvl1pPr>
            <a:lvl2pPr marL="347472">
              <a:defRPr sz="1800"/>
            </a:lvl2pPr>
            <a:lvl3pPr marL="731520">
              <a:defRPr sz="1800"/>
            </a:lvl3pPr>
            <a:lvl4pPr marL="1097280"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DBF4DF-D0B4-1DA6-0271-5D4033A9C19C}"/>
              </a:ext>
            </a:extLst>
          </p:cNvPr>
          <p:cNvSpPr>
            <a:spLocks noGrp="1"/>
          </p:cNvSpPr>
          <p:nvPr>
            <p:ph type="ftr" sz="quarter" idx="57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7335A-F59E-2A6C-D2D6-F10391DA8D69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613646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7671816" cy="2103120"/>
          </a:xfrm>
        </p:spPr>
        <p:txBody>
          <a:bodyPr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F9296AFE-5FB8-52A4-3111-3B53DBE4DB3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914400" y="3200400"/>
            <a:ext cx="10149840" cy="28346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Freeform: Shape 12">
            <a:extLst>
              <a:ext uri="{FF2B5EF4-FFF2-40B4-BE49-F238E27FC236}">
                <a16:creationId xmlns:a16="http://schemas.microsoft.com/office/drawing/2014/main" id="{809C5320-0161-C582-141C-55F06D4F3BAE}"/>
              </a:ext>
            </a:extLst>
          </p:cNvPr>
          <p:cNvSpPr/>
          <p:nvPr userDrawn="1"/>
        </p:nvSpPr>
        <p:spPr>
          <a:xfrm>
            <a:off x="8893126" y="351937"/>
            <a:ext cx="1331054" cy="150249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29C982F3-4477-76AC-0429-350585A39FFA}"/>
              </a:ext>
            </a:extLst>
          </p:cNvPr>
          <p:cNvSpPr/>
          <p:nvPr userDrawn="1"/>
        </p:nvSpPr>
        <p:spPr>
          <a:xfrm>
            <a:off x="5255120" y="0"/>
            <a:ext cx="1330247" cy="603188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7">
            <a:extLst>
              <a:ext uri="{FF2B5EF4-FFF2-40B4-BE49-F238E27FC236}">
                <a16:creationId xmlns:a16="http://schemas.microsoft.com/office/drawing/2014/main" id="{87A8F7B2-0552-AAD4-9DE2-845DE10CA10A}"/>
              </a:ext>
            </a:extLst>
          </p:cNvPr>
          <p:cNvSpPr/>
          <p:nvPr userDrawn="1"/>
        </p:nvSpPr>
        <p:spPr>
          <a:xfrm>
            <a:off x="6710252" y="0"/>
            <a:ext cx="1330247" cy="603188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395DA7FF-BAA0-F04C-CA6C-16E9C2D55593}"/>
              </a:ext>
            </a:extLst>
          </p:cNvPr>
          <p:cNvSpPr/>
          <p:nvPr userDrawn="1"/>
        </p:nvSpPr>
        <p:spPr>
          <a:xfrm>
            <a:off x="879765" y="0"/>
            <a:ext cx="1330247" cy="603188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468D9CEC-53B7-B8DC-B77E-E3F86681879C}"/>
              </a:ext>
            </a:extLst>
          </p:cNvPr>
          <p:cNvSpPr/>
          <p:nvPr userDrawn="1"/>
        </p:nvSpPr>
        <p:spPr>
          <a:xfrm>
            <a:off x="2336512" y="-9525"/>
            <a:ext cx="1330247" cy="603188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9222D4D6-56B1-C4C3-0E51-FB22F0CD902B}"/>
              </a:ext>
            </a:extLst>
          </p:cNvPr>
          <p:cNvSpPr/>
          <p:nvPr userDrawn="1"/>
        </p:nvSpPr>
        <p:spPr>
          <a:xfrm>
            <a:off x="8160084" y="-10376"/>
            <a:ext cx="1330247" cy="603188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0E6292F0-9E78-C98C-097B-30DEBBC1B179}"/>
              </a:ext>
            </a:extLst>
          </p:cNvPr>
          <p:cNvSpPr/>
          <p:nvPr userDrawn="1"/>
        </p:nvSpPr>
        <p:spPr>
          <a:xfrm>
            <a:off x="9615216" y="0"/>
            <a:ext cx="1330247" cy="603188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Freeform: Shape 12">
            <a:extLst>
              <a:ext uri="{FF2B5EF4-FFF2-40B4-BE49-F238E27FC236}">
                <a16:creationId xmlns:a16="http://schemas.microsoft.com/office/drawing/2014/main" id="{315817B3-76DB-FDD0-60F7-E385C0E84F58}"/>
              </a:ext>
            </a:extLst>
          </p:cNvPr>
          <p:cNvSpPr/>
          <p:nvPr userDrawn="1"/>
        </p:nvSpPr>
        <p:spPr>
          <a:xfrm>
            <a:off x="10342958" y="320527"/>
            <a:ext cx="1331054" cy="150249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</p:spTree>
    <p:extLst>
      <p:ext uri="{BB962C8B-B14F-4D97-AF65-F5344CB8AC3E}">
        <p14:creationId xmlns:p14="http://schemas.microsoft.com/office/powerpoint/2010/main" val="389171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4">
            <a:extLst>
              <a:ext uri="{FF2B5EF4-FFF2-40B4-BE49-F238E27FC236}">
                <a16:creationId xmlns:a16="http://schemas.microsoft.com/office/drawing/2014/main" id="{F73BF8E3-2426-5D65-6582-D4B03C765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510" y="2016579"/>
            <a:ext cx="4441188" cy="27758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Content placeholder 47">
            <a:extLst>
              <a:ext uri="{FF2B5EF4-FFF2-40B4-BE49-F238E27FC236}">
                <a16:creationId xmlns:a16="http://schemas.microsoft.com/office/drawing/2014/main" id="{117BCD91-6BBA-AACD-3424-C3A4E5C1AB1D}"/>
              </a:ext>
            </a:extLst>
          </p:cNvPr>
          <p:cNvSpPr>
            <a:spLocks noGrp="1" noChangeAspect="1"/>
          </p:cNvSpPr>
          <p:nvPr>
            <p:ph type="pic" sz="quarter" idx="48"/>
          </p:nvPr>
        </p:nvSpPr>
        <p:spPr>
          <a:xfrm>
            <a:off x="914400" y="539496"/>
            <a:ext cx="5025207" cy="5779008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/>
              <a:t>Click icon to add picture</a:t>
            </a:r>
            <a:endParaRPr lang="en-US" altLang="zh-CN" noProof="0" dirty="0"/>
          </a:p>
        </p:txBody>
      </p:sp>
      <p:pic>
        <p:nvPicPr>
          <p:cNvPr id="7" name="Shape 33">
            <a:extLst>
              <a:ext uri="{FF2B5EF4-FFF2-40B4-BE49-F238E27FC236}">
                <a16:creationId xmlns:a16="http://schemas.microsoft.com/office/drawing/2014/main" id="{78B6A20E-2402-E586-7E92-A2C0D0B854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2010" y="4038403"/>
            <a:ext cx="1438713" cy="1645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3" name="Freeform: Shape 11">
            <a:extLst>
              <a:ext uri="{FF2B5EF4-FFF2-40B4-BE49-F238E27FC236}">
                <a16:creationId xmlns:a16="http://schemas.microsoft.com/office/drawing/2014/main" id="{20E24AA2-A4D8-FFB3-C801-0E57990B8CB6}"/>
              </a:ext>
            </a:extLst>
          </p:cNvPr>
          <p:cNvSpPr/>
          <p:nvPr userDrawn="1"/>
        </p:nvSpPr>
        <p:spPr>
          <a:xfrm>
            <a:off x="1360235" y="5541405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1FEC53F3-5030-5BCF-54CA-ABB14457C073}"/>
              </a:ext>
            </a:extLst>
          </p:cNvPr>
          <p:cNvSpPr/>
          <p:nvPr userDrawn="1"/>
        </p:nvSpPr>
        <p:spPr>
          <a:xfrm>
            <a:off x="5429027" y="393334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07711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86721E85-C7DE-A05F-D33D-97CAF161E33A}"/>
              </a:ext>
            </a:extLst>
          </p:cNvPr>
          <p:cNvSpPr/>
          <p:nvPr userDrawn="1"/>
        </p:nvSpPr>
        <p:spPr>
          <a:xfrm>
            <a:off x="0" y="2860787"/>
            <a:ext cx="2004570" cy="3676532"/>
          </a:xfrm>
          <a:custGeom>
            <a:avLst/>
            <a:gdLst>
              <a:gd name="connsiteX0" fmla="*/ 417538 w 2004570"/>
              <a:gd name="connsiteY0" fmla="*/ 0 h 3676532"/>
              <a:gd name="connsiteX1" fmla="*/ 2004570 w 2004570"/>
              <a:gd name="connsiteY1" fmla="*/ 925683 h 3676532"/>
              <a:gd name="connsiteX2" fmla="*/ 2004570 w 2004570"/>
              <a:gd name="connsiteY2" fmla="*/ 2763949 h 3676532"/>
              <a:gd name="connsiteX3" fmla="*/ 413202 w 2004570"/>
              <a:gd name="connsiteY3" fmla="*/ 3676532 h 3676532"/>
              <a:gd name="connsiteX4" fmla="*/ 0 w 2004570"/>
              <a:gd name="connsiteY4" fmla="*/ 3439338 h 3676532"/>
              <a:gd name="connsiteX5" fmla="*/ 0 w 2004570"/>
              <a:gd name="connsiteY5" fmla="*/ 241075 h 367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04570" h="3676532">
                <a:moveTo>
                  <a:pt x="417538" y="0"/>
                </a:moveTo>
                <a:lnTo>
                  <a:pt x="2004570" y="925683"/>
                </a:lnTo>
                <a:lnTo>
                  <a:pt x="2004570" y="2763949"/>
                </a:lnTo>
                <a:lnTo>
                  <a:pt x="413202" y="3676532"/>
                </a:lnTo>
                <a:lnTo>
                  <a:pt x="0" y="3439338"/>
                </a:lnTo>
                <a:lnTo>
                  <a:pt x="0" y="241075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2BA5A58B-9440-7DAB-E7D7-3143B049FBAC}"/>
              </a:ext>
            </a:extLst>
          </p:cNvPr>
          <p:cNvSpPr/>
          <p:nvPr userDrawn="1"/>
        </p:nvSpPr>
        <p:spPr>
          <a:xfrm flipH="1">
            <a:off x="657773" y="5253270"/>
            <a:ext cx="1710765" cy="1621875"/>
          </a:xfrm>
          <a:custGeom>
            <a:avLst/>
            <a:gdLst>
              <a:gd name="connsiteX0" fmla="*/ 852873 w 1710765"/>
              <a:gd name="connsiteY0" fmla="*/ 0 h 1593273"/>
              <a:gd name="connsiteX1" fmla="*/ 0 w 1710765"/>
              <a:gd name="connsiteY1" fmla="*/ 494134 h 1593273"/>
              <a:gd name="connsiteX2" fmla="*/ 0 w 1710765"/>
              <a:gd name="connsiteY2" fmla="*/ 1475410 h 1593273"/>
              <a:gd name="connsiteX3" fmla="*/ 206916 w 1710765"/>
              <a:gd name="connsiteY3" fmla="*/ 1593273 h 1593273"/>
              <a:gd name="connsiteX4" fmla="*/ 1502835 w 1710765"/>
              <a:gd name="connsiteY4" fmla="*/ 1593273 h 1593273"/>
              <a:gd name="connsiteX5" fmla="*/ 1709418 w 1710765"/>
              <a:gd name="connsiteY5" fmla="*/ 1475480 h 1593273"/>
              <a:gd name="connsiteX6" fmla="*/ 1710407 w 1710765"/>
              <a:gd name="connsiteY6" fmla="*/ 491803 h 1593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0765" h="1593273">
                <a:moveTo>
                  <a:pt x="852873" y="0"/>
                </a:moveTo>
                <a:lnTo>
                  <a:pt x="0" y="494134"/>
                </a:lnTo>
                <a:lnTo>
                  <a:pt x="0" y="1475410"/>
                </a:lnTo>
                <a:lnTo>
                  <a:pt x="206916" y="1593273"/>
                </a:lnTo>
                <a:lnTo>
                  <a:pt x="1502835" y="1593273"/>
                </a:lnTo>
                <a:lnTo>
                  <a:pt x="1709418" y="1475480"/>
                </a:lnTo>
                <a:cubicBezTo>
                  <a:pt x="1707864" y="1146834"/>
                  <a:pt x="1711961" y="820449"/>
                  <a:pt x="1710407" y="491803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Freeform: Shape 24">
            <a:extLst>
              <a:ext uri="{FF2B5EF4-FFF2-40B4-BE49-F238E27FC236}">
                <a16:creationId xmlns:a16="http://schemas.microsoft.com/office/drawing/2014/main" id="{A23F9759-CF52-CE45-5E22-9678534685A7}"/>
              </a:ext>
            </a:extLst>
          </p:cNvPr>
          <p:cNvSpPr/>
          <p:nvPr userDrawn="1"/>
        </p:nvSpPr>
        <p:spPr>
          <a:xfrm flipH="1">
            <a:off x="2275432" y="4699053"/>
            <a:ext cx="668814" cy="784693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D84FCC1-368D-680C-31AA-597C3AAF4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5576" y="1499616"/>
            <a:ext cx="7955280" cy="1335024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FFF81D2-C0B4-3B82-8DF6-D10CC07C441C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465576" y="3108960"/>
            <a:ext cx="4572000" cy="3108960"/>
          </a:xfrm>
        </p:spPr>
        <p:txBody>
          <a:bodyPr/>
          <a:lstStyle>
            <a:lvl1pPr marL="512064" indent="-512064">
              <a:buFont typeface="+mj-lt"/>
              <a:buAutoNum type="arabicPeriod"/>
              <a:defRPr sz="1800"/>
            </a:lvl1pPr>
            <a:lvl2pPr marL="1097280" indent="-512064">
              <a:buFont typeface="+mj-lt"/>
              <a:buAutoNum type="alphaLcPeriod"/>
              <a:defRPr sz="1800"/>
            </a:lvl2pPr>
            <a:lvl3pPr marL="1645920" indent="-512064">
              <a:buFont typeface="+mj-lt"/>
              <a:buAutoNum type="romanLcPeriod"/>
              <a:defRPr sz="1800"/>
            </a:lvl3pPr>
            <a:lvl4pPr marL="2194560" indent="-512064">
              <a:buFont typeface="+mj-lt"/>
              <a:buAutoNum type="arabicParenR"/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190F721-56C7-251D-948D-117696095C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0" y="3108960"/>
            <a:ext cx="3017520" cy="310896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94E8A0-C02C-2322-50C1-50080A793F84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>
          <a:xfrm>
            <a:off x="3465576" y="6217920"/>
            <a:ext cx="4114800" cy="365125"/>
          </a:xfrm>
        </p:spPr>
        <p:txBody>
          <a:bodyPr/>
          <a:lstStyle/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6A453-65E1-B688-A3F9-EA0AA347DDEA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2" name="Freeform: Shape 12">
            <a:extLst>
              <a:ext uri="{FF2B5EF4-FFF2-40B4-BE49-F238E27FC236}">
                <a16:creationId xmlns:a16="http://schemas.microsoft.com/office/drawing/2014/main" id="{0750FD92-E143-4402-D455-30DC417CBDBE}"/>
              </a:ext>
            </a:extLst>
          </p:cNvPr>
          <p:cNvSpPr/>
          <p:nvPr userDrawn="1"/>
        </p:nvSpPr>
        <p:spPr>
          <a:xfrm>
            <a:off x="1198465" y="958947"/>
            <a:ext cx="1544735" cy="174369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6B13E9E2-D67B-E75B-D60D-CE3782A4FC67}"/>
              </a:ext>
            </a:extLst>
          </p:cNvPr>
          <p:cNvSpPr/>
          <p:nvPr userDrawn="1"/>
        </p:nvSpPr>
        <p:spPr>
          <a:xfrm>
            <a:off x="326738" y="0"/>
            <a:ext cx="1544359" cy="1254845"/>
          </a:xfrm>
          <a:custGeom>
            <a:avLst/>
            <a:gdLst>
              <a:gd name="connsiteX0" fmla="*/ 0 w 1544359"/>
              <a:gd name="connsiteY0" fmla="*/ 0 h 1254845"/>
              <a:gd name="connsiteX1" fmla="*/ 1544359 w 1544359"/>
              <a:gd name="connsiteY1" fmla="*/ 0 h 1254845"/>
              <a:gd name="connsiteX2" fmla="*/ 1543519 w 1544359"/>
              <a:gd name="connsiteY2" fmla="*/ 822090 h 1254845"/>
              <a:gd name="connsiteX3" fmla="*/ 772206 w 1544359"/>
              <a:gd name="connsiteY3" fmla="*/ 1254845 h 1254845"/>
              <a:gd name="connsiteX4" fmla="*/ 0 w 1544359"/>
              <a:gd name="connsiteY4" fmla="*/ 822027 h 1254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44359" h="1254845">
                <a:moveTo>
                  <a:pt x="0" y="0"/>
                </a:moveTo>
                <a:lnTo>
                  <a:pt x="1544359" y="0"/>
                </a:lnTo>
                <a:lnTo>
                  <a:pt x="1543519" y="822090"/>
                </a:lnTo>
                <a:lnTo>
                  <a:pt x="772206" y="1254845"/>
                </a:lnTo>
                <a:lnTo>
                  <a:pt x="0" y="822027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21137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reeform 46">
            <a:extLst>
              <a:ext uri="{FF2B5EF4-FFF2-40B4-BE49-F238E27FC236}">
                <a16:creationId xmlns:a16="http://schemas.microsoft.com/office/drawing/2014/main" id="{39B50CEE-D9F9-B5CD-C274-BEAA5EAB37E3}"/>
              </a:ext>
            </a:extLst>
          </p:cNvPr>
          <p:cNvSpPr/>
          <p:nvPr userDrawn="1"/>
        </p:nvSpPr>
        <p:spPr>
          <a:xfrm>
            <a:off x="410352" y="12435"/>
            <a:ext cx="1455521" cy="1019127"/>
          </a:xfrm>
          <a:custGeom>
            <a:avLst/>
            <a:gdLst>
              <a:gd name="connsiteX0" fmla="*/ 219223 w 1455521"/>
              <a:gd name="connsiteY0" fmla="*/ 0 h 1019127"/>
              <a:gd name="connsiteX1" fmla="*/ 1236298 w 1455521"/>
              <a:gd name="connsiteY1" fmla="*/ 0 h 1019127"/>
              <a:gd name="connsiteX2" fmla="*/ 1455521 w 1455521"/>
              <a:gd name="connsiteY2" fmla="*/ 385779 h 1019127"/>
              <a:gd name="connsiteX3" fmla="*/ 1095615 w 1455521"/>
              <a:gd name="connsiteY3" fmla="*/ 1019127 h 1019127"/>
              <a:gd name="connsiteX4" fmla="*/ 359906 w 1455521"/>
              <a:gd name="connsiteY4" fmla="*/ 1019127 h 1019127"/>
              <a:gd name="connsiteX5" fmla="*/ 0 w 1455521"/>
              <a:gd name="connsiteY5" fmla="*/ 385779 h 1019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1019127">
                <a:moveTo>
                  <a:pt x="219223" y="0"/>
                </a:moveTo>
                <a:lnTo>
                  <a:pt x="1236298" y="0"/>
                </a:lnTo>
                <a:lnTo>
                  <a:pt x="1455521" y="385779"/>
                </a:lnTo>
                <a:lnTo>
                  <a:pt x="1095615" y="1019127"/>
                </a:lnTo>
                <a:lnTo>
                  <a:pt x="359906" y="1019127"/>
                </a:lnTo>
                <a:lnTo>
                  <a:pt x="0" y="385779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Hexagon 15">
            <a:extLst>
              <a:ext uri="{FF2B5EF4-FFF2-40B4-BE49-F238E27FC236}">
                <a16:creationId xmlns:a16="http://schemas.microsoft.com/office/drawing/2014/main" id="{93831F6E-A0DA-46E5-AF13-ED5D9ABF108D}"/>
              </a:ext>
            </a:extLst>
          </p:cNvPr>
          <p:cNvSpPr/>
          <p:nvPr userDrawn="1"/>
        </p:nvSpPr>
        <p:spPr>
          <a:xfrm>
            <a:off x="1579486" y="45000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Hexagon 17">
            <a:extLst>
              <a:ext uri="{FF2B5EF4-FFF2-40B4-BE49-F238E27FC236}">
                <a16:creationId xmlns:a16="http://schemas.microsoft.com/office/drawing/2014/main" id="{18B06ECC-5FA7-4ACA-86BF-694240D0C05B}"/>
              </a:ext>
            </a:extLst>
          </p:cNvPr>
          <p:cNvSpPr/>
          <p:nvPr userDrawn="1"/>
        </p:nvSpPr>
        <p:spPr>
          <a:xfrm>
            <a:off x="412218" y="113647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Hexagon 19">
            <a:extLst>
              <a:ext uri="{FF2B5EF4-FFF2-40B4-BE49-F238E27FC236}">
                <a16:creationId xmlns:a16="http://schemas.microsoft.com/office/drawing/2014/main" id="{089AA305-8FFC-46A5-B806-D5D78320D0CD}"/>
              </a:ext>
            </a:extLst>
          </p:cNvPr>
          <p:cNvSpPr/>
          <p:nvPr userDrawn="1"/>
        </p:nvSpPr>
        <p:spPr>
          <a:xfrm>
            <a:off x="1580070" y="1812437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Hexagon 21">
            <a:extLst>
              <a:ext uri="{FF2B5EF4-FFF2-40B4-BE49-F238E27FC236}">
                <a16:creationId xmlns:a16="http://schemas.microsoft.com/office/drawing/2014/main" id="{DB2D65ED-32BC-44B2-92F3-E16717051CA1}"/>
              </a:ext>
            </a:extLst>
          </p:cNvPr>
          <p:cNvSpPr/>
          <p:nvPr userDrawn="1"/>
        </p:nvSpPr>
        <p:spPr>
          <a:xfrm>
            <a:off x="3953772" y="4582171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6100186E-95B0-AB29-6F1D-DBFBAA566DB2}"/>
              </a:ext>
            </a:extLst>
          </p:cNvPr>
          <p:cNvSpPr/>
          <p:nvPr userDrawn="1"/>
        </p:nvSpPr>
        <p:spPr>
          <a:xfrm>
            <a:off x="3955762" y="5952136"/>
            <a:ext cx="1455521" cy="932559"/>
          </a:xfrm>
          <a:custGeom>
            <a:avLst/>
            <a:gdLst>
              <a:gd name="connsiteX0" fmla="*/ 359906 w 1455521"/>
              <a:gd name="connsiteY0" fmla="*/ 0 h 932559"/>
              <a:gd name="connsiteX1" fmla="*/ 1095615 w 1455521"/>
              <a:gd name="connsiteY1" fmla="*/ 0 h 932559"/>
              <a:gd name="connsiteX2" fmla="*/ 1455521 w 1455521"/>
              <a:gd name="connsiteY2" fmla="*/ 633348 h 932559"/>
              <a:gd name="connsiteX3" fmla="*/ 1285492 w 1455521"/>
              <a:gd name="connsiteY3" fmla="*/ 932559 h 932559"/>
              <a:gd name="connsiteX4" fmla="*/ 170030 w 1455521"/>
              <a:gd name="connsiteY4" fmla="*/ 932559 h 932559"/>
              <a:gd name="connsiteX5" fmla="*/ 0 w 1455521"/>
              <a:gd name="connsiteY5" fmla="*/ 633348 h 932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32559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285492" y="932559"/>
                </a:lnTo>
                <a:lnTo>
                  <a:pt x="170030" y="932559"/>
                </a:lnTo>
                <a:lnTo>
                  <a:pt x="0" y="633348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Hexagon 27">
            <a:extLst>
              <a:ext uri="{FF2B5EF4-FFF2-40B4-BE49-F238E27FC236}">
                <a16:creationId xmlns:a16="http://schemas.microsoft.com/office/drawing/2014/main" id="{5275D449-7441-440B-8584-96D25256F24D}"/>
              </a:ext>
            </a:extLst>
          </p:cNvPr>
          <p:cNvSpPr/>
          <p:nvPr userDrawn="1"/>
        </p:nvSpPr>
        <p:spPr>
          <a:xfrm>
            <a:off x="2783996" y="524544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Hexagon 21">
            <a:extLst>
              <a:ext uri="{FF2B5EF4-FFF2-40B4-BE49-F238E27FC236}">
                <a16:creationId xmlns:a16="http://schemas.microsoft.com/office/drawing/2014/main" id="{AA088CB3-68C2-8BF7-640B-511D7AD708D4}"/>
              </a:ext>
            </a:extLst>
          </p:cNvPr>
          <p:cNvSpPr/>
          <p:nvPr userDrawn="1"/>
        </p:nvSpPr>
        <p:spPr>
          <a:xfrm>
            <a:off x="2757266" y="2493385"/>
            <a:ext cx="1467568" cy="1305975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rgbClr val="D844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Hexagon 28">
            <a:extLst>
              <a:ext uri="{FF2B5EF4-FFF2-40B4-BE49-F238E27FC236}">
                <a16:creationId xmlns:a16="http://schemas.microsoft.com/office/drawing/2014/main" id="{94CFCD79-F5CD-4175-96DE-1AC2E1999DB6}"/>
              </a:ext>
            </a:extLst>
          </p:cNvPr>
          <p:cNvSpPr/>
          <p:nvPr userDrawn="1"/>
        </p:nvSpPr>
        <p:spPr>
          <a:xfrm>
            <a:off x="2767144" y="388062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C8667104-E096-23C3-4C2C-5277C2AF5C57}"/>
              </a:ext>
            </a:extLst>
          </p:cNvPr>
          <p:cNvSpPr/>
          <p:nvPr userDrawn="1"/>
        </p:nvSpPr>
        <p:spPr>
          <a:xfrm>
            <a:off x="3702" y="448131"/>
            <a:ext cx="678871" cy="1266696"/>
          </a:xfrm>
          <a:custGeom>
            <a:avLst/>
            <a:gdLst>
              <a:gd name="connsiteX0" fmla="*/ 0 w 678871"/>
              <a:gd name="connsiteY0" fmla="*/ 0 h 1266696"/>
              <a:gd name="connsiteX1" fmla="*/ 318965 w 678871"/>
              <a:gd name="connsiteY1" fmla="*/ 0 h 1266696"/>
              <a:gd name="connsiteX2" fmla="*/ 678871 w 678871"/>
              <a:gd name="connsiteY2" fmla="*/ 633348 h 1266696"/>
              <a:gd name="connsiteX3" fmla="*/ 318965 w 678871"/>
              <a:gd name="connsiteY3" fmla="*/ 1266696 h 1266696"/>
              <a:gd name="connsiteX4" fmla="*/ 0 w 678871"/>
              <a:gd name="connsiteY4" fmla="*/ 1266696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8871" h="1266696">
                <a:moveTo>
                  <a:pt x="0" y="0"/>
                </a:moveTo>
                <a:lnTo>
                  <a:pt x="318965" y="0"/>
                </a:lnTo>
                <a:lnTo>
                  <a:pt x="678871" y="633348"/>
                </a:lnTo>
                <a:lnTo>
                  <a:pt x="318965" y="1266696"/>
                </a:lnTo>
                <a:lnTo>
                  <a:pt x="0" y="1266696"/>
                </a:lnTo>
                <a:close/>
              </a:path>
            </a:pathLst>
          </a:cu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Hexagon 31">
            <a:extLst>
              <a:ext uri="{FF2B5EF4-FFF2-40B4-BE49-F238E27FC236}">
                <a16:creationId xmlns:a16="http://schemas.microsoft.com/office/drawing/2014/main" id="{61BB4AB0-7C5C-4697-A25B-0AFD8754AB52}"/>
              </a:ext>
            </a:extLst>
          </p:cNvPr>
          <p:cNvSpPr/>
          <p:nvPr userDrawn="1"/>
        </p:nvSpPr>
        <p:spPr>
          <a:xfrm>
            <a:off x="1580353" y="318279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Hexagon 28">
            <a:extLst>
              <a:ext uri="{FF2B5EF4-FFF2-40B4-BE49-F238E27FC236}">
                <a16:creationId xmlns:a16="http://schemas.microsoft.com/office/drawing/2014/main" id="{E4EF439B-1CC3-CA39-B62A-E54F83ED70D2}"/>
              </a:ext>
            </a:extLst>
          </p:cNvPr>
          <p:cNvSpPr/>
          <p:nvPr userDrawn="1"/>
        </p:nvSpPr>
        <p:spPr>
          <a:xfrm>
            <a:off x="396269" y="251164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2363FF00-E570-D743-258E-E9FEF4F02A08}"/>
              </a:ext>
            </a:extLst>
          </p:cNvPr>
          <p:cNvSpPr/>
          <p:nvPr userDrawn="1"/>
        </p:nvSpPr>
        <p:spPr>
          <a:xfrm>
            <a:off x="6334981" y="5962237"/>
            <a:ext cx="1455521" cy="901561"/>
          </a:xfrm>
          <a:custGeom>
            <a:avLst/>
            <a:gdLst>
              <a:gd name="connsiteX0" fmla="*/ 359906 w 1455521"/>
              <a:gd name="connsiteY0" fmla="*/ 0 h 901561"/>
              <a:gd name="connsiteX1" fmla="*/ 1095615 w 1455521"/>
              <a:gd name="connsiteY1" fmla="*/ 0 h 901561"/>
              <a:gd name="connsiteX2" fmla="*/ 1455521 w 1455521"/>
              <a:gd name="connsiteY2" fmla="*/ 633348 h 901561"/>
              <a:gd name="connsiteX3" fmla="*/ 1303107 w 1455521"/>
              <a:gd name="connsiteY3" fmla="*/ 901561 h 901561"/>
              <a:gd name="connsiteX4" fmla="*/ 152415 w 1455521"/>
              <a:gd name="connsiteY4" fmla="*/ 901561 h 901561"/>
              <a:gd name="connsiteX5" fmla="*/ 0 w 1455521"/>
              <a:gd name="connsiteY5" fmla="*/ 633348 h 90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01561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303107" y="901561"/>
                </a:lnTo>
                <a:lnTo>
                  <a:pt x="152415" y="901561"/>
                </a:lnTo>
                <a:lnTo>
                  <a:pt x="0" y="633348"/>
                </a:lnTo>
                <a:close/>
              </a:path>
            </a:pathLst>
          </a:custGeom>
          <a:noFill/>
          <a:ln w="19050">
            <a:solidFill>
              <a:srgbClr val="98432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Hexagon 21">
            <a:extLst>
              <a:ext uri="{FF2B5EF4-FFF2-40B4-BE49-F238E27FC236}">
                <a16:creationId xmlns:a16="http://schemas.microsoft.com/office/drawing/2014/main" id="{A38FF139-88E9-67A9-6010-4EDFB851076B}"/>
              </a:ext>
            </a:extLst>
          </p:cNvPr>
          <p:cNvSpPr/>
          <p:nvPr userDrawn="1"/>
        </p:nvSpPr>
        <p:spPr>
          <a:xfrm>
            <a:off x="5150156" y="5261378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Hexagon 21">
            <a:extLst>
              <a:ext uri="{FF2B5EF4-FFF2-40B4-BE49-F238E27FC236}">
                <a16:creationId xmlns:a16="http://schemas.microsoft.com/office/drawing/2014/main" id="{99956147-4454-5EA6-FC9C-94C08EE35F28}"/>
              </a:ext>
            </a:extLst>
          </p:cNvPr>
          <p:cNvSpPr/>
          <p:nvPr userDrawn="1"/>
        </p:nvSpPr>
        <p:spPr>
          <a:xfrm>
            <a:off x="3948599" y="3206642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4722C9EB-D452-B3DF-5219-160F48DE7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0" y="731520"/>
            <a:ext cx="5394960" cy="2103120"/>
          </a:xfrm>
        </p:spPr>
        <p:txBody>
          <a:bodyPr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B7E46D91-6194-E279-CAE3-425E21FD4A8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035040" y="3108960"/>
            <a:ext cx="5394960" cy="1879791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E3C8467A-0A34-2A65-92FE-F12F6A3D84A6}"/>
              </a:ext>
            </a:extLst>
          </p:cNvPr>
          <p:cNvSpPr/>
          <p:nvPr userDrawn="1"/>
        </p:nvSpPr>
        <p:spPr>
          <a:xfrm>
            <a:off x="-6538" y="1815084"/>
            <a:ext cx="697438" cy="1266696"/>
          </a:xfrm>
          <a:custGeom>
            <a:avLst/>
            <a:gdLst>
              <a:gd name="connsiteX0" fmla="*/ 0 w 732607"/>
              <a:gd name="connsiteY0" fmla="*/ 0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0" fmla="*/ 43961 w 732607"/>
              <a:gd name="connsiteY0" fmla="*/ 8793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5" fmla="*/ 43961 w 732607"/>
              <a:gd name="connsiteY5" fmla="*/ 8793 h 1266696"/>
              <a:gd name="connsiteX0" fmla="*/ 8792 w 697438"/>
              <a:gd name="connsiteY0" fmla="*/ 8793 h 1266696"/>
              <a:gd name="connsiteX1" fmla="*/ 337532 w 697438"/>
              <a:gd name="connsiteY1" fmla="*/ 0 h 1266696"/>
              <a:gd name="connsiteX2" fmla="*/ 697438 w 697438"/>
              <a:gd name="connsiteY2" fmla="*/ 633348 h 1266696"/>
              <a:gd name="connsiteX3" fmla="*/ 337532 w 697438"/>
              <a:gd name="connsiteY3" fmla="*/ 1266696 h 1266696"/>
              <a:gd name="connsiteX4" fmla="*/ 0 w 697438"/>
              <a:gd name="connsiteY4" fmla="*/ 1266696 h 1266696"/>
              <a:gd name="connsiteX5" fmla="*/ 8792 w 697438"/>
              <a:gd name="connsiteY5" fmla="*/ 8793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7438" h="1266696">
                <a:moveTo>
                  <a:pt x="8792" y="8793"/>
                </a:moveTo>
                <a:lnTo>
                  <a:pt x="337532" y="0"/>
                </a:lnTo>
                <a:lnTo>
                  <a:pt x="697438" y="633348"/>
                </a:lnTo>
                <a:lnTo>
                  <a:pt x="337532" y="1266696"/>
                </a:lnTo>
                <a:lnTo>
                  <a:pt x="0" y="1266696"/>
                </a:lnTo>
                <a:cubicBezTo>
                  <a:pt x="0" y="844464"/>
                  <a:pt x="8792" y="431025"/>
                  <a:pt x="8792" y="8793"/>
                </a:cubicBezTo>
                <a:close/>
              </a:path>
            </a:pathLst>
          </a:custGeom>
          <a:noFill/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7334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7">
            <a:extLst>
              <a:ext uri="{FF2B5EF4-FFF2-40B4-BE49-F238E27FC236}">
                <a16:creationId xmlns:a16="http://schemas.microsoft.com/office/drawing/2014/main" id="{28B6388A-37D2-4382-A7FC-9B9A76BDE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4169" y="6217920"/>
            <a:ext cx="45859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8CB8A3D-9A54-FD7C-F6A5-B33E6C891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F38A7675-78A2-B642-22AF-B98514C68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76125D-E69D-E2ED-1549-3D67DBD4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21792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20574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1" r:id="rId2"/>
    <p:sldLayoutId id="2147483674" r:id="rId3"/>
    <p:sldLayoutId id="2147483670" r:id="rId4"/>
    <p:sldLayoutId id="2147483669" r:id="rId5"/>
    <p:sldLayoutId id="2147483655" r:id="rId6"/>
    <p:sldLayoutId id="2147483651" r:id="rId7"/>
    <p:sldLayoutId id="2147483662" r:id="rId8"/>
    <p:sldLayoutId id="2147483673" r:id="rId9"/>
    <p:sldLayoutId id="2147483653" r:id="rId10"/>
    <p:sldLayoutId id="2147483663" r:id="rId11"/>
    <p:sldLayoutId id="2147483665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1pPr>
      <a:lvl2pPr marL="73152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109728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46304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32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5640" userDrawn="1">
          <p15:clr>
            <a:srgbClr val="F26B43"/>
          </p15:clr>
        </p15:guide>
        <p15:guide id="4" pos="1656" userDrawn="1">
          <p15:clr>
            <a:srgbClr val="F26B43"/>
          </p15:clr>
        </p15:guide>
        <p15:guide id="5" pos="520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7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2A73C-F597-27B7-8F29-D6406DC4D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8464" y="731520"/>
            <a:ext cx="5029200" cy="3291840"/>
          </a:xfrm>
        </p:spPr>
        <p:txBody>
          <a:bodyPr lIns="0" anchor="b" anchorCtr="0"/>
          <a:lstStyle/>
          <a:p>
            <a:r>
              <a:rPr lang="en-US" altLang="zh-CN" dirty="0"/>
              <a:t>Factor Timing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190503-C2C6-37F4-4636-9B4A8A3DE4E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117336" y="4172084"/>
            <a:ext cx="5029200" cy="2265292"/>
          </a:xfrm>
        </p:spPr>
        <p:txBody>
          <a:bodyPr>
            <a:normAutofit/>
          </a:bodyPr>
          <a:lstStyle/>
          <a:p>
            <a:r>
              <a:rPr lang="en-US" sz="2400" dirty="0"/>
              <a:t>Progress report:</a:t>
            </a:r>
          </a:p>
          <a:p>
            <a:pPr marL="1017270" lvl="1" indent="-285750"/>
            <a:r>
              <a:rPr lang="en-US" sz="1100" dirty="0"/>
              <a:t>Data labelling</a:t>
            </a:r>
          </a:p>
          <a:p>
            <a:pPr marL="1017270" lvl="1" indent="-285750"/>
            <a:r>
              <a:rPr lang="en-US" sz="1100" dirty="0"/>
              <a:t>Feature selection</a:t>
            </a:r>
          </a:p>
          <a:p>
            <a:pPr marL="1017270" lvl="1" indent="-285750"/>
            <a:r>
              <a:rPr lang="en-US" sz="1100" dirty="0"/>
              <a:t> </a:t>
            </a:r>
            <a:r>
              <a:rPr lang="en-US" sz="1100" dirty="0" err="1"/>
              <a:t>XGBoost</a:t>
            </a:r>
            <a:r>
              <a:rPr lang="en-US" sz="1100" dirty="0"/>
              <a:t> model training</a:t>
            </a:r>
          </a:p>
        </p:txBody>
      </p:sp>
    </p:spTree>
    <p:extLst>
      <p:ext uri="{BB962C8B-B14F-4D97-AF65-F5344CB8AC3E}">
        <p14:creationId xmlns:p14="http://schemas.microsoft.com/office/powerpoint/2010/main" val="35301119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D45FF-1E3B-E017-99A1-148A67A03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B2491-275B-9722-AA7D-6BA7B7FA9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564" y="2433379"/>
            <a:ext cx="3386080" cy="3383280"/>
          </a:xfrm>
          <a:noFill/>
        </p:spPr>
        <p:txBody>
          <a:bodyPr anchor="t" anchorCtr="0">
            <a:noAutofit/>
          </a:bodyPr>
          <a:lstStyle/>
          <a:p>
            <a:r>
              <a:rPr lang="en-US" dirty="0"/>
              <a:t>Summary: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79381F-9911-FEBB-5D56-CF9FF8B45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2</a:t>
            </a:fld>
            <a:endParaRPr lang="en-US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C71012BD-BA2A-FF2A-C63E-38BA3174F0F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681644" y="1643233"/>
            <a:ext cx="8377515" cy="50783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b="1" dirty="0">
                <a:latin typeface="Arial" panose="020B0604020202020204" pitchFamily="34" charset="0"/>
              </a:rPr>
              <a:t>Data labelling: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dirty="0">
                <a:latin typeface="Arial" panose="020B0604020202020204" pitchFamily="34" charset="0"/>
              </a:rPr>
              <a:t>Trend scanning method.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38404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latin typeface="Arial" panose="020B0604020202020204" pitchFamily="34" charset="0"/>
              </a:rPr>
              <a:t>Feature selection: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dirty="0">
                <a:latin typeface="Arial" panose="020B0604020202020204" pitchFamily="34" charset="0"/>
              </a:rPr>
              <a:t>Identified broad categories of indicators with strong predictive power from literature.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dirty="0">
                <a:latin typeface="Arial" panose="020B0604020202020204" pitchFamily="34" charset="0"/>
              </a:rPr>
              <a:t>Generated additional features (from Danial Page).</a:t>
            </a:r>
            <a:endParaRPr kumimoji="0" lang="en-US" altLang="en-US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b="1" dirty="0">
                <a:latin typeface="Arial" panose="020B0604020202020204" pitchFamily="34" charset="0"/>
              </a:rPr>
              <a:t>Feature importance – Mean Decreasing Accuracy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dirty="0">
                <a:latin typeface="Arial" panose="020B0604020202020204" pitchFamily="34" charset="0"/>
              </a:rPr>
              <a:t>Permutate individual features into and out of a classifier, and measure the change in OOS accuracy of model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b="1" dirty="0" err="1">
                <a:latin typeface="Arial" panose="020B0604020202020204" pitchFamily="34" charset="0"/>
              </a:rPr>
              <a:t>XGBoost</a:t>
            </a:r>
            <a:r>
              <a:rPr lang="en-US" altLang="en-US" b="1" dirty="0">
                <a:latin typeface="Arial" panose="020B0604020202020204" pitchFamily="34" charset="0"/>
              </a:rPr>
              <a:t> classifier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b="1" dirty="0">
                <a:latin typeface="Arial" panose="020B0604020202020204" pitchFamily="34" charset="0"/>
              </a:rPr>
              <a:t>Combinatorial Purged Cross-Validation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Used for hyperparameter tunning.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b="1" dirty="0">
                <a:latin typeface="Arial" panose="020B0604020202020204" pitchFamily="34" charset="0"/>
              </a:rPr>
              <a:t>Walk-forward validation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Use best parameters from CPCV and apply walk-forward validation for final predictions.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38984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C59F6-9B22-C211-4B4C-A2FD4B914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374" y="136456"/>
            <a:ext cx="10883154" cy="558488"/>
          </a:xfrm>
          <a:noFill/>
        </p:spPr>
        <p:txBody>
          <a:bodyPr anchor="b" anchorCtr="0">
            <a:noAutofit/>
          </a:bodyPr>
          <a:lstStyle/>
          <a:p>
            <a:r>
              <a:rPr lang="en-US" sz="3600" dirty="0"/>
              <a:t>D</a:t>
            </a:r>
            <a:r>
              <a:rPr lang="en-ZA" sz="3600" dirty="0" err="1"/>
              <a:t>ata</a:t>
            </a:r>
            <a:r>
              <a:rPr lang="en-ZA" sz="3600" dirty="0"/>
              <a:t> labelling:</a:t>
            </a:r>
            <a:endParaRPr lang="en-US" sz="36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231D8C-5C7D-BFD9-19A4-7628C1400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3</a:t>
            </a:fld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F6F4951-C469-1F2A-F850-25F16243BF5B}"/>
              </a:ext>
            </a:extLst>
          </p:cNvPr>
          <p:cNvSpPr txBox="1"/>
          <p:nvPr/>
        </p:nvSpPr>
        <p:spPr>
          <a:xfrm>
            <a:off x="903845" y="6291827"/>
            <a:ext cx="4468190" cy="27699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1200" i="1" dirty="0">
                <a:solidFill>
                  <a:schemeClr val="bg1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Value factor relative returns labels</a:t>
            </a:r>
            <a:endParaRPr lang="en-ZA" sz="1200" i="1" dirty="0">
              <a:solidFill>
                <a:schemeClr val="bg1"/>
              </a:solidFill>
              <a:latin typeface="Posterama" panose="020B0504020200020000" pitchFamily="34" charset="0"/>
              <a:ea typeface="微软雅黑"/>
              <a:cs typeface="Posterama" panose="020B0504020200020000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328BDC9-2DAC-3F5B-5A8A-1ACE1D4AF97C}"/>
              </a:ext>
            </a:extLst>
          </p:cNvPr>
          <p:cNvSpPr txBox="1"/>
          <p:nvPr/>
        </p:nvSpPr>
        <p:spPr>
          <a:xfrm>
            <a:off x="6231309" y="6291826"/>
            <a:ext cx="4468190" cy="27699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1200" i="1" dirty="0">
                <a:solidFill>
                  <a:schemeClr val="bg1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Quality factor relative returns labels</a:t>
            </a:r>
            <a:endParaRPr lang="en-ZA" sz="1200" i="1" dirty="0">
              <a:solidFill>
                <a:schemeClr val="bg1"/>
              </a:solidFill>
              <a:latin typeface="Posterama" panose="020B0504020200020000" pitchFamily="34" charset="0"/>
              <a:ea typeface="微软雅黑"/>
              <a:cs typeface="Posterama" panose="020B0504020200020000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FD81B2-3BF5-AD03-A2EA-B63C20F643F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390"/>
          <a:stretch>
            <a:fillRect/>
          </a:stretch>
        </p:blipFill>
        <p:spPr>
          <a:xfrm>
            <a:off x="914400" y="890332"/>
            <a:ext cx="4729064" cy="2246060"/>
          </a:xfrm>
          <a:prstGeom prst="rect">
            <a:avLst/>
          </a:prstGeo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E1795C8C-7A88-868F-D6CD-8FDA372B2C89}"/>
              </a:ext>
            </a:extLst>
          </p:cNvPr>
          <p:cNvPicPr>
            <a:picLocks noGrp="1" noChangeAspect="1"/>
          </p:cNvPicPr>
          <p:nvPr>
            <p:ph idx="14"/>
          </p:nvPr>
        </p:nvPicPr>
        <p:blipFill>
          <a:blip r:embed="rId4"/>
          <a:srcRect t="4633"/>
          <a:stretch>
            <a:fillRect/>
          </a:stretch>
        </p:blipFill>
        <p:spPr>
          <a:xfrm>
            <a:off x="911888" y="3582032"/>
            <a:ext cx="4729063" cy="263588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6A3E67A-012B-7114-EBB6-CDF3C296D1B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951"/>
          <a:stretch>
            <a:fillRect/>
          </a:stretch>
        </p:blipFill>
        <p:spPr>
          <a:xfrm>
            <a:off x="6231309" y="3582032"/>
            <a:ext cx="5350535" cy="263588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660DAF4-4E9E-B36B-C934-4437B58E0165}"/>
              </a:ext>
            </a:extLst>
          </p:cNvPr>
          <p:cNvSpPr txBox="1"/>
          <p:nvPr/>
        </p:nvSpPr>
        <p:spPr>
          <a:xfrm>
            <a:off x="6231310" y="745509"/>
            <a:ext cx="5350534" cy="230832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b="1" dirty="0">
                <a:solidFill>
                  <a:prstClr val="white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Trend scanning technique: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</a:rPr>
              <a:t>Define the look-forward window, subdivide into expanding time windows.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</a:rPr>
              <a:t>Fit a linear regression between each sub-window, collect the regression slopes and t-stats.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</a:rPr>
              <a:t>Among all horizons, find the regression with the highest absolute t-stat.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</a:rPr>
              <a:t>Positive/negative slope = up/down trend.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F702276-3A0E-2EB5-B4C0-A31A65ED9AF0}"/>
              </a:ext>
            </a:extLst>
          </p:cNvPr>
          <p:cNvSpPr txBox="1"/>
          <p:nvPr/>
        </p:nvSpPr>
        <p:spPr>
          <a:xfrm>
            <a:off x="911888" y="3216385"/>
            <a:ext cx="4468190" cy="27699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sz="1200" i="1" dirty="0">
                <a:solidFill>
                  <a:schemeClr val="bg1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Momentum factor relative returns labels</a:t>
            </a:r>
            <a:endParaRPr lang="en-ZA" sz="1200" i="1" dirty="0">
              <a:solidFill>
                <a:schemeClr val="bg1"/>
              </a:solidFill>
              <a:latin typeface="Posterama" panose="020B0504020200020000" pitchFamily="34" charset="0"/>
              <a:ea typeface="微软雅黑"/>
              <a:cs typeface="Posterama" panose="020B050402020002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46306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64A96-68E4-C14C-FE0A-8EE1ABD36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03AC0-8709-96C7-AD6D-20442EA95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086" y="159743"/>
            <a:ext cx="10883154" cy="795462"/>
          </a:xfrm>
          <a:noFill/>
        </p:spPr>
        <p:txBody>
          <a:bodyPr anchor="b" anchorCtr="0">
            <a:noAutofit/>
          </a:bodyPr>
          <a:lstStyle/>
          <a:p>
            <a:r>
              <a:rPr lang="en-ZA" sz="3600" dirty="0"/>
              <a:t>Features Selection: </a:t>
            </a:r>
            <a:endParaRPr lang="en-US" sz="36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458DBAF-E08A-D2F8-71DD-BA481FE53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4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311FE9-6AEB-C166-8DE7-3434A9B6C3EC}"/>
              </a:ext>
            </a:extLst>
          </p:cNvPr>
          <p:cNvSpPr txBox="1"/>
          <p:nvPr/>
        </p:nvSpPr>
        <p:spPr>
          <a:xfrm>
            <a:off x="181086" y="1012237"/>
            <a:ext cx="9533517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ZA" dirty="0">
                <a:solidFill>
                  <a:schemeClr val="bg1"/>
                </a:solidFill>
              </a:rPr>
              <a:t>Factor predictors with strong predictive power under four different market scenarios </a:t>
            </a:r>
            <a:endParaRPr lang="en-ZA" sz="1400" i="1" dirty="0">
              <a:solidFill>
                <a:schemeClr val="bg1"/>
              </a:solidFill>
              <a:latin typeface="Posterama" panose="020B0504020200020000" pitchFamily="34" charset="0"/>
              <a:ea typeface="微软雅黑"/>
              <a:cs typeface="Posterama" panose="020B0504020200020000" pitchFamily="34" charset="0"/>
            </a:endParaRP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85585632-E89A-6C1D-4F8D-77AF831707CC}"/>
              </a:ext>
            </a:extLst>
          </p:cNvPr>
          <p:cNvPicPr>
            <a:picLocks noGrp="1" noChangeAspect="1"/>
          </p:cNvPicPr>
          <p:nvPr>
            <p:ph idx="14"/>
          </p:nvPr>
        </p:nvPicPr>
        <p:blipFill>
          <a:blip r:embed="rId3"/>
          <a:stretch>
            <a:fillRect/>
          </a:stretch>
        </p:blipFill>
        <p:spPr>
          <a:xfrm>
            <a:off x="181086" y="1489074"/>
            <a:ext cx="5196354" cy="407047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A8B76C7-DB6B-127C-7051-5E326ECB8A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7567" y="1489074"/>
            <a:ext cx="5196354" cy="407047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16B07D8-1EA6-8264-AD6A-C52CDC2BA772}"/>
              </a:ext>
            </a:extLst>
          </p:cNvPr>
          <p:cNvSpPr txBox="1"/>
          <p:nvPr/>
        </p:nvSpPr>
        <p:spPr>
          <a:xfrm>
            <a:off x="181086" y="5724088"/>
            <a:ext cx="9533517" cy="95410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ZA" sz="1400" dirty="0">
                <a:solidFill>
                  <a:schemeClr val="bg1"/>
                </a:solidFill>
              </a:rPr>
              <a:t>Liquidity and price trends proved to be a crucial driver of factor returns in both normal and market crises conditions.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ZA" sz="1400" dirty="0">
                <a:solidFill>
                  <a:schemeClr val="bg1"/>
                </a:solidFill>
              </a:rPr>
              <a:t>Value and momentum indicators were robust across emerging and developed markets.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ZA" sz="1400" dirty="0">
                <a:solidFill>
                  <a:schemeClr val="bg1"/>
                </a:solidFill>
              </a:rPr>
              <a:t>Size, volatility, sentiment, macroeconomic, and technical indicators showed varying degrees of predictive strength across the four different scenarios.</a:t>
            </a:r>
          </a:p>
        </p:txBody>
      </p:sp>
    </p:spTree>
    <p:extLst>
      <p:ext uri="{BB962C8B-B14F-4D97-AF65-F5344CB8AC3E}">
        <p14:creationId xmlns:p14="http://schemas.microsoft.com/office/powerpoint/2010/main" val="18910326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FF4265-79D0-5AAB-FD13-E649A2577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C9212-819E-9465-E41B-6426525A5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6813" y="65874"/>
            <a:ext cx="8923468" cy="490296"/>
          </a:xfrm>
        </p:spPr>
        <p:txBody>
          <a:bodyPr>
            <a:noAutofit/>
          </a:bodyPr>
          <a:lstStyle/>
          <a:p>
            <a:r>
              <a:rPr lang="en-US" sz="2800" dirty="0"/>
              <a:t>Feature Importance – Momentum Factor</a:t>
            </a:r>
            <a:endParaRPr lang="en-ZA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9CF4AA-1EF6-B8BF-7940-6BCF19A57820}"/>
              </a:ext>
            </a:extLst>
          </p:cNvPr>
          <p:cNvSpPr txBox="1"/>
          <p:nvPr/>
        </p:nvSpPr>
        <p:spPr>
          <a:xfrm>
            <a:off x="233620" y="1123905"/>
            <a:ext cx="5862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Correlation heatmap of Top 50 features  </a:t>
            </a:r>
            <a:endParaRPr lang="en-ZA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622768-47BA-170A-5880-CEE18C4063BE}"/>
              </a:ext>
            </a:extLst>
          </p:cNvPr>
          <p:cNvSpPr txBox="1"/>
          <p:nvPr/>
        </p:nvSpPr>
        <p:spPr>
          <a:xfrm>
            <a:off x="6592823" y="1123905"/>
            <a:ext cx="5365555" cy="646331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solidFill>
                  <a:prstClr val="white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Highly correlated features at correlation threshold = 0.75</a:t>
            </a:r>
            <a:r>
              <a:rPr lang="en-US" sz="1800" dirty="0">
                <a:solidFill>
                  <a:prstClr val="white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 (Top 20)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77E5C7-FA4B-52F0-998E-45B0C930CB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109" r="12810"/>
          <a:stretch>
            <a:fillRect/>
          </a:stretch>
        </p:blipFill>
        <p:spPr>
          <a:xfrm>
            <a:off x="168774" y="1642220"/>
            <a:ext cx="5793114" cy="4836828"/>
          </a:xfrm>
          <a:prstGeom prst="rect">
            <a:avLst/>
          </a:prstGeom>
        </p:spPr>
      </p:pic>
      <p:sp>
        <p:nvSpPr>
          <p:cNvPr id="10" name="Speech Bubble: Oval 9">
            <a:extLst>
              <a:ext uri="{FF2B5EF4-FFF2-40B4-BE49-F238E27FC236}">
                <a16:creationId xmlns:a16="http://schemas.microsoft.com/office/drawing/2014/main" id="{D9031BB3-4B2D-48E7-51D5-64E38ED137CC}"/>
              </a:ext>
            </a:extLst>
          </p:cNvPr>
          <p:cNvSpPr/>
          <p:nvPr/>
        </p:nvSpPr>
        <p:spPr>
          <a:xfrm>
            <a:off x="2770632" y="3150108"/>
            <a:ext cx="1255778" cy="704088"/>
          </a:xfrm>
          <a:prstGeom prst="wedgeEllipseCallout">
            <a:avLst>
              <a:gd name="adj1" fmla="val 106662"/>
              <a:gd name="adj2" fmla="val -16720"/>
            </a:avLst>
          </a:prstGeom>
          <a:noFill/>
          <a:ln>
            <a:solidFill>
              <a:srgbClr val="00B05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ysClr val="windowText" lastClr="000000"/>
                </a:solidFill>
              </a:rPr>
              <a:t>Investigate zero correlations</a:t>
            </a:r>
            <a:endParaRPr lang="en-ZA" sz="1000" b="1" dirty="0">
              <a:solidFill>
                <a:sysClr val="windowText" lastClr="000000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FCD8E91-7BFB-DAEB-45EA-B42C20BF25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9756" y="1812566"/>
            <a:ext cx="5010407" cy="4083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9792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BA5CF-8DF1-C4C7-053C-BD4CA1A68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6813" y="65874"/>
            <a:ext cx="8923468" cy="490296"/>
          </a:xfrm>
        </p:spPr>
        <p:txBody>
          <a:bodyPr>
            <a:noAutofit/>
          </a:bodyPr>
          <a:lstStyle/>
          <a:p>
            <a:r>
              <a:rPr lang="en-US" sz="2800" dirty="0"/>
              <a:t>Feature Importance – Momentum Factor</a:t>
            </a:r>
            <a:endParaRPr lang="en-ZA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1E2D32-BE39-691A-D63A-59EF3947EF90}"/>
              </a:ext>
            </a:extLst>
          </p:cNvPr>
          <p:cNvSpPr txBox="1"/>
          <p:nvPr/>
        </p:nvSpPr>
        <p:spPr>
          <a:xfrm>
            <a:off x="3331284" y="556170"/>
            <a:ext cx="865452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dirty="0">
                <a:solidFill>
                  <a:schemeClr val="bg1"/>
                </a:solidFill>
              </a:rPr>
              <a:t>Lopez de Prado – Mean Decrease Accuracy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ZA" sz="1400" dirty="0">
                <a:solidFill>
                  <a:schemeClr val="bg1"/>
                </a:solidFill>
              </a:rPr>
              <a:t>Mean Importance - </a:t>
            </a:r>
            <a:r>
              <a:rPr lang="en-US" sz="1400" dirty="0">
                <a:solidFill>
                  <a:schemeClr val="bg1"/>
                </a:solidFill>
              </a:rPr>
              <a:t>the average drop in </a:t>
            </a:r>
            <a:r>
              <a:rPr lang="en-US" sz="1400" b="1" dirty="0">
                <a:solidFill>
                  <a:schemeClr val="bg1"/>
                </a:solidFill>
              </a:rPr>
              <a:t>out-of-sample</a:t>
            </a:r>
            <a:r>
              <a:rPr lang="en-US" sz="1400" dirty="0">
                <a:solidFill>
                  <a:schemeClr val="bg1"/>
                </a:solidFill>
              </a:rPr>
              <a:t> performance when a feature is randomly permuted in the test set.</a:t>
            </a:r>
          </a:p>
          <a:p>
            <a:pPr lvl="1"/>
            <a:endParaRPr lang="en-ZA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111A4C-3CF8-20AF-F93C-CCC745C3BFE8}"/>
              </a:ext>
            </a:extLst>
          </p:cNvPr>
          <p:cNvSpPr txBox="1"/>
          <p:nvPr/>
        </p:nvSpPr>
        <p:spPr>
          <a:xfrm>
            <a:off x="6812279" y="1691640"/>
            <a:ext cx="5308001" cy="5078313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prstClr val="white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Methodology</a:t>
            </a:r>
            <a:r>
              <a:rPr lang="en-US" sz="1800" b="1" dirty="0">
                <a:solidFill>
                  <a:prstClr val="white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: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dirty="0">
                <a:solidFill>
                  <a:prstClr val="white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Fit a classifier – </a:t>
            </a:r>
            <a:r>
              <a:rPr lang="en-US" dirty="0" err="1">
                <a:solidFill>
                  <a:prstClr val="white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XGBoost</a:t>
            </a:r>
            <a:r>
              <a:rPr lang="en-US" dirty="0">
                <a:solidFill>
                  <a:prstClr val="white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 (apply walk forward validation)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prstClr val="white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Der</a:t>
            </a:r>
            <a:r>
              <a:rPr lang="en-US" dirty="0">
                <a:solidFill>
                  <a:prstClr val="white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ive OOS accuracy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dirty="0">
                <a:solidFill>
                  <a:prstClr val="white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Remove</a:t>
            </a:r>
            <a:r>
              <a:rPr lang="en-US" sz="1800" dirty="0">
                <a:solidFill>
                  <a:prstClr val="white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 ea</a:t>
            </a:r>
            <a:r>
              <a:rPr lang="en-US" dirty="0">
                <a:solidFill>
                  <a:prstClr val="white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ch column of the feature matrix, one at a time.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prstClr val="white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Derive OOS accuracy after each column’s </a:t>
            </a:r>
            <a:r>
              <a:rPr lang="en-US" dirty="0">
                <a:solidFill>
                  <a:prstClr val="white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removal</a:t>
            </a:r>
            <a:r>
              <a:rPr lang="en-US" sz="1800" dirty="0">
                <a:solidFill>
                  <a:prstClr val="white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.</a:t>
            </a:r>
            <a:endParaRPr lang="en-US" dirty="0">
              <a:solidFill>
                <a:prstClr val="white"/>
              </a:solidFill>
              <a:latin typeface="Posterama" panose="020B0504020200020000" pitchFamily="34" charset="0"/>
              <a:ea typeface="微软雅黑"/>
              <a:cs typeface="Posterama" panose="020B0504020200020000" pitchFamily="34" charset="0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prstClr val="white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The importance of the feature is measured by the loss in performance caused by its removal.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prstClr val="white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ZA" sz="1800" b="1" dirty="0">
                <a:solidFill>
                  <a:prstClr val="white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Caveat to method: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ZA" dirty="0">
                <a:solidFill>
                  <a:prstClr val="white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Subject to substitution effect – given two highly correlated features, shuffling one still allows the other to contribute to predictions.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ZA" dirty="0">
                <a:solidFill>
                  <a:prstClr val="white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Gives the false impression that both features are less important.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FDC19A-FE3E-A964-DD33-12B421741B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881" y="1691640"/>
            <a:ext cx="6390805" cy="4610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6540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E562E-09A5-3F4A-AB0F-CCB334D8E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078" y="87948"/>
            <a:ext cx="3931920" cy="1356804"/>
          </a:xfrm>
        </p:spPr>
        <p:txBody>
          <a:bodyPr>
            <a:normAutofit/>
          </a:bodyPr>
          <a:lstStyle/>
          <a:p>
            <a:r>
              <a:rPr lang="en-ZA" dirty="0" err="1"/>
              <a:t>XGBoost</a:t>
            </a:r>
            <a:r>
              <a:rPr lang="en-ZA" dirty="0"/>
              <a:t>  Classifier: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C4A4140D-5B37-D019-F090-DAB639A041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19941673"/>
              </p:ext>
            </p:extLst>
          </p:nvPr>
        </p:nvGraphicFramePr>
        <p:xfrm>
          <a:off x="5647762" y="804394"/>
          <a:ext cx="6320119" cy="56412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8770DA-7B8E-AB9B-9283-068CB8AB46A4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7</a:t>
            </a:fld>
            <a:endParaRPr lang="en-US" altLang="zh-CN" noProof="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5FCA76-FBD8-839C-59C1-ACF7E85A8A9E}"/>
              </a:ext>
            </a:extLst>
          </p:cNvPr>
          <p:cNvSpPr txBox="1"/>
          <p:nvPr/>
        </p:nvSpPr>
        <p:spPr>
          <a:xfrm>
            <a:off x="285078" y="1582340"/>
            <a:ext cx="519056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Combinatorial Purged Cross-Validation: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bg1"/>
                </a:solidFill>
              </a:rPr>
              <a:t>Split data into smaller subsections.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ZA" dirty="0">
                <a:solidFill>
                  <a:schemeClr val="bg1"/>
                </a:solidFill>
              </a:rPr>
              <a:t>Generate multiple unique combinations of training and testing sets. 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ZA" dirty="0">
                <a:solidFill>
                  <a:schemeClr val="bg1"/>
                </a:solidFill>
              </a:rPr>
              <a:t>Parameters are then optimized on these splits.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ZA" dirty="0">
                <a:solidFill>
                  <a:schemeClr val="bg1"/>
                </a:solidFill>
              </a:rPr>
              <a:t>Aggregate the resulting parameter sets </a:t>
            </a:r>
            <a:r>
              <a:rPr lang="en-US" dirty="0">
                <a:solidFill>
                  <a:schemeClr val="bg1"/>
                </a:solidFill>
              </a:rPr>
              <a:t>identify the most robust ones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Walk-forward validation: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bg1"/>
                </a:solidFill>
              </a:rPr>
              <a:t>Train on the training dataset and predict the first step in the test dataset.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bg1"/>
                </a:solidFill>
              </a:rPr>
              <a:t>Then add the real observation from the test set to the training dataset.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bg1"/>
                </a:solidFill>
              </a:rPr>
              <a:t>Refit the model, then have the model predict the next step in the test dataset.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98078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C35B1-F69E-BAEF-B0FE-620DB0928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26EF9-685B-B161-13AE-761CEC763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086" y="159743"/>
            <a:ext cx="10883154" cy="795462"/>
          </a:xfrm>
          <a:noFill/>
        </p:spPr>
        <p:txBody>
          <a:bodyPr anchor="b" anchorCtr="0">
            <a:noAutofit/>
          </a:bodyPr>
          <a:lstStyle/>
          <a:p>
            <a:r>
              <a:rPr lang="en-ZA" sz="3600" dirty="0"/>
              <a:t>Preliminary Results – 12 month predictions</a:t>
            </a:r>
            <a:endParaRPr lang="en-US" sz="36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49D7686-485E-4BFB-D479-0A5DCD46A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8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C94543-8B9A-6BCC-86E6-B6F140A9CE84}"/>
              </a:ext>
            </a:extLst>
          </p:cNvPr>
          <p:cNvSpPr txBox="1"/>
          <p:nvPr/>
        </p:nvSpPr>
        <p:spPr>
          <a:xfrm>
            <a:off x="181086" y="1012237"/>
            <a:ext cx="5441577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ZA" dirty="0">
                <a:solidFill>
                  <a:schemeClr val="bg1"/>
                </a:solidFill>
              </a:rPr>
              <a:t>1. Best parameters from CPCV: </a:t>
            </a:r>
            <a:endParaRPr lang="en-ZA" sz="1400" i="1" dirty="0">
              <a:solidFill>
                <a:schemeClr val="bg1"/>
              </a:solidFill>
              <a:latin typeface="Posterama" panose="020B0504020200020000" pitchFamily="34" charset="0"/>
              <a:ea typeface="微软雅黑"/>
              <a:cs typeface="Posterama" panose="020B0504020200020000" pitchFamily="34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17C9DBE-9E8E-FC35-C8A5-818466ACD55E}"/>
              </a:ext>
            </a:extLst>
          </p:cNvPr>
          <p:cNvPicPr>
            <a:picLocks noGrp="1" noChangeAspect="1"/>
          </p:cNvPicPr>
          <p:nvPr>
            <p:ph idx="14"/>
          </p:nvPr>
        </p:nvPicPr>
        <p:blipFill>
          <a:blip r:embed="rId3"/>
          <a:stretch>
            <a:fillRect/>
          </a:stretch>
        </p:blipFill>
        <p:spPr>
          <a:xfrm>
            <a:off x="6212491" y="3894256"/>
            <a:ext cx="5287841" cy="28352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6E1F187-92CA-7C47-F147-A63AA7AE45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075" y="1450182"/>
            <a:ext cx="5401584" cy="188289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9059CD9-C6D4-631B-9542-2EFFD1E94F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1079" y="3894256"/>
            <a:ext cx="4341777" cy="283527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C7FA0E5-62BB-8FE4-6B56-798BFA1DB058}"/>
              </a:ext>
            </a:extLst>
          </p:cNvPr>
          <p:cNvSpPr txBox="1"/>
          <p:nvPr/>
        </p:nvSpPr>
        <p:spPr>
          <a:xfrm>
            <a:off x="201082" y="3429000"/>
            <a:ext cx="5441577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ZA" dirty="0">
                <a:solidFill>
                  <a:schemeClr val="bg1"/>
                </a:solidFill>
              </a:rPr>
              <a:t>2. Prediction results: </a:t>
            </a:r>
            <a:endParaRPr lang="en-ZA" sz="1400" i="1" dirty="0">
              <a:solidFill>
                <a:schemeClr val="bg1"/>
              </a:solidFill>
              <a:latin typeface="Posterama" panose="020B0504020200020000" pitchFamily="34" charset="0"/>
              <a:ea typeface="微软雅黑"/>
              <a:cs typeface="Posterama" panose="020B0504020200020000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FD78542-37D2-6DD8-5269-3FEA59DA530C}"/>
              </a:ext>
            </a:extLst>
          </p:cNvPr>
          <p:cNvSpPr txBox="1"/>
          <p:nvPr/>
        </p:nvSpPr>
        <p:spPr>
          <a:xfrm>
            <a:off x="6211184" y="3429000"/>
            <a:ext cx="5441577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ZA" dirty="0">
                <a:solidFill>
                  <a:schemeClr val="bg1"/>
                </a:solidFill>
              </a:rPr>
              <a:t>3. Visual of Actuals vs Predictions: </a:t>
            </a:r>
            <a:endParaRPr lang="en-ZA" sz="1400" i="1" dirty="0">
              <a:solidFill>
                <a:schemeClr val="bg1"/>
              </a:solidFill>
              <a:latin typeface="Posterama" panose="020B0504020200020000" pitchFamily="34" charset="0"/>
              <a:ea typeface="微软雅黑"/>
              <a:cs typeface="Posterama" panose="020B0504020200020000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58DB405-7987-D3AC-7C91-00C4C7DB00A8}"/>
              </a:ext>
            </a:extLst>
          </p:cNvPr>
          <p:cNvSpPr txBox="1"/>
          <p:nvPr/>
        </p:nvSpPr>
        <p:spPr>
          <a:xfrm>
            <a:off x="6211184" y="1390713"/>
            <a:ext cx="4023360" cy="175432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prstClr val="white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Model results are expected to impr</a:t>
            </a:r>
            <a:r>
              <a:rPr lang="en-US" dirty="0">
                <a:solidFill>
                  <a:prstClr val="white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ove once we: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prstClr val="white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Incorporate all features.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prstClr val="white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Apply formal data pre-processing.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ZA" sz="1800" dirty="0">
              <a:solidFill>
                <a:prstClr val="white"/>
              </a:solidFill>
              <a:latin typeface="Posterama" panose="020B0504020200020000" pitchFamily="34" charset="0"/>
              <a:ea typeface="微软雅黑"/>
              <a:cs typeface="Posterama" panose="020B050402020002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50615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5E674-8006-316C-4F9B-1BF50E2DD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In progress: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D9AE85-697B-EB16-5089-F1D91D311AC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>
            <a:normAutofit fontScale="925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2400" dirty="0"/>
              <a:t>Create a data preprocessing workflow.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2400" dirty="0"/>
              <a:t>Model training:</a:t>
            </a:r>
          </a:p>
          <a:p>
            <a:pPr marL="1017270" lvl="1" indent="-285750"/>
            <a:r>
              <a:rPr lang="en-ZA" sz="1700" dirty="0"/>
              <a:t>Logistic regression</a:t>
            </a:r>
          </a:p>
          <a:p>
            <a:pPr marL="1017270" lvl="1" indent="-285750"/>
            <a:r>
              <a:rPr lang="en-ZA" sz="1700" dirty="0"/>
              <a:t>GAM.</a:t>
            </a:r>
          </a:p>
          <a:p>
            <a:endParaRPr lang="en-ZA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ZA" sz="2400" dirty="0"/>
          </a:p>
        </p:txBody>
      </p:sp>
    </p:spTree>
    <p:extLst>
      <p:ext uri="{BB962C8B-B14F-4D97-AF65-F5344CB8AC3E}">
        <p14:creationId xmlns:p14="http://schemas.microsoft.com/office/powerpoint/2010/main" val="415726347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7">
      <a:dk1>
        <a:srgbClr val="000000"/>
      </a:dk1>
      <a:lt1>
        <a:srgbClr val="FFFFFF"/>
      </a:lt1>
      <a:dk2>
        <a:srgbClr val="0F253E"/>
      </a:dk2>
      <a:lt2>
        <a:srgbClr val="E7E6E6"/>
      </a:lt2>
      <a:accent1>
        <a:srgbClr val="4472C4"/>
      </a:accent1>
      <a:accent2>
        <a:srgbClr val="B83903"/>
      </a:accent2>
      <a:accent3>
        <a:srgbClr val="75262A"/>
      </a:accent3>
      <a:accent4>
        <a:srgbClr val="F79320"/>
      </a:accent4>
      <a:accent5>
        <a:srgbClr val="44668D"/>
      </a:accent5>
      <a:accent6>
        <a:srgbClr val="0F253E"/>
      </a:accent6>
      <a:hlink>
        <a:srgbClr val="AEC0D9"/>
      </a:hlink>
      <a:folHlink>
        <a:srgbClr val="B83903"/>
      </a:folHlink>
    </a:clrScheme>
    <a:fontScheme name="Custom 16">
      <a:majorFont>
        <a:latin typeface="Posterama"/>
        <a:ea typeface=""/>
        <a:cs typeface=""/>
      </a:majorFont>
      <a:minorFont>
        <a:latin typeface="Abad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/>
      <a:lstStyle>
        <a:defPPr marL="0" indent="0" algn="ctr">
          <a:lnSpc>
            <a:spcPct val="100000"/>
          </a:lnSpc>
          <a:spcBef>
            <a:spcPts val="0"/>
          </a:spcBef>
          <a:buFontTx/>
          <a:buNone/>
          <a:defRPr sz="1800" smtClean="0">
            <a:solidFill>
              <a:prstClr val="white"/>
            </a:solidFill>
            <a:latin typeface="Posterama" panose="020B0504020200020000" pitchFamily="34" charset="0"/>
            <a:ea typeface="微软雅黑"/>
            <a:cs typeface="Posterama" panose="020B0504020200020000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M9027928_win32_EF_v4" id="{FA821E7E-D625-4DCD-A30E-3216B54C8383}" vid="{DE28BE6C-8054-44B2-A92D-A1CAFC256BDB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BBSettings xmlns="http://schemas.bloomberg.com/settings/1.0">
  <Item name="DocumentId_Charts">{CF2D7E4F-8BDC-4BD9-88AB-FB7995453E03}</Item>
  <Item xmlns="" name="ShapesMap_Charts">{"{CF2D7E4F-8BDC-4BD9-88AB-FB7995453E03}":{"261":{},"269":{},"279":{},"297":{},"298":{}}}</Item>
</BBSettings>
</file>

<file path=customXml/itemProps1.xml><?xml version="1.0" encoding="utf-8"?>
<ds:datastoreItem xmlns:ds="http://schemas.openxmlformats.org/officeDocument/2006/customXml" ds:itemID="{B0009351-EDD4-484E-ACD6-D50CCB13763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8DB3C62-858A-4A01-AFEF-21E0BB8CE262}">
  <ds:schemaRefs>
    <ds:schemaRef ds:uri="http://schemas.microsoft.com/office/2006/metadata/properties"/>
    <ds:schemaRef ds:uri="http://schemas.microsoft.com/office/2006/documentManagement/types"/>
    <ds:schemaRef ds:uri="http://www.w3.org/XML/1998/namespace"/>
    <ds:schemaRef ds:uri="http://purl.org/dc/elements/1.1/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purl.org/dc/terms/"/>
    <ds:schemaRef ds:uri="230e9df3-be65-4c73-a93b-d1236ebd677e"/>
    <ds:schemaRef ds:uri="16c05727-aa75-4e4a-9b5f-8a80a1165891"/>
    <ds:schemaRef ds:uri="71af3243-3dd4-4a8d-8c0d-dd76da1f02a5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79897CAE-455D-42C9-A951-0C21BC12254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FBAF2D56-7C34-40CE-BD75-81956C65B455}">
  <ds:schemaRefs>
    <ds:schemaRef ds:uri="http://schemas.bloomberg.com/settings/1.0"/>
    <ds:schemaRef ds:uri=""/>
  </ds:schemaRefs>
</ds:datastoreItem>
</file>

<file path=docMetadata/LabelInfo.xml><?xml version="1.0" encoding="utf-8"?>
<clbl:labelList xmlns:clbl="http://schemas.microsoft.com/office/2020/mipLabelMetadata">
  <clbl:label id="{70c52299-74de-4dfd-b117-c9c408edfa50}" enabled="1" method="Standard" siteId="{853cbaab-a620-4178-8933-88d76414184a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Hexagon presentation dark</Template>
  <TotalTime>4512</TotalTime>
  <Words>636</Words>
  <Application>Microsoft Office PowerPoint</Application>
  <PresentationFormat>Widescreen</PresentationFormat>
  <Paragraphs>93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等线</vt:lpstr>
      <vt:lpstr>Abadi</vt:lpstr>
      <vt:lpstr>Arial</vt:lpstr>
      <vt:lpstr>Calibri</vt:lpstr>
      <vt:lpstr>Posterama</vt:lpstr>
      <vt:lpstr>Posterama Text SemiBold</vt:lpstr>
      <vt:lpstr>Wingdings</vt:lpstr>
      <vt:lpstr>Custom</vt:lpstr>
      <vt:lpstr>Factor Timing</vt:lpstr>
      <vt:lpstr>Summary:</vt:lpstr>
      <vt:lpstr>Data labelling:</vt:lpstr>
      <vt:lpstr>Features Selection: </vt:lpstr>
      <vt:lpstr>Feature Importance – Momentum Factor</vt:lpstr>
      <vt:lpstr>Feature Importance – Momentum Factor</vt:lpstr>
      <vt:lpstr>XGBoost  Classifier:</vt:lpstr>
      <vt:lpstr>Preliminary Results – 12 month predictions</vt:lpstr>
      <vt:lpstr>In progress: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Cathy Hlungwani</dc:creator>
  <cp:lastModifiedBy>Cathy Hlungwani</cp:lastModifiedBy>
  <cp:revision>2571</cp:revision>
  <dcterms:created xsi:type="dcterms:W3CDTF">2025-02-24T18:22:11Z</dcterms:created>
  <dcterms:modified xsi:type="dcterms:W3CDTF">2025-08-15T04:44:31Z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